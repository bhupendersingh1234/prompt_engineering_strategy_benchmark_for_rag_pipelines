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7" r:id="rId2"/>
    <p:sldId id="259" r:id="rId3"/>
    <p:sldId id="260" r:id="rId4"/>
    <p:sldId id="268" r:id="rId17"/>
    <p:sldId id="261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5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Strategy Benchmark for RAG Pipelines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Astitva Thakkar  —  23BAI1057</a:t>
            </a:r>
            <a:endParaRPr lang="en-US" sz="1400" dirty="0"/>
          </a:p>
          <a:p>
            <a:r>
              <a:rPr sz="1400">
                <a:solidFill>
                  <a:srgbClr val="000000"/>
                </a:solidFill>
                <a:latin typeface="Calibri"/>
              </a:rPr>
              <a:t>Parth Sharma  —  23BAI1528</a:t>
            </a:r>
          </a:p>
          <a:p>
            <a:r>
              <a:rPr sz="1400">
                <a:solidFill>
                  <a:srgbClr val="000000"/>
                </a:solidFill>
                <a:latin typeface="Calibri"/>
              </a:rPr>
              <a:t>Bhupender Singh  —  23BRS1107</a:t>
            </a:r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Manmohan Sharma,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1600"/>
              </a:spcBef>
              <a:spcAft>
                <a:spcPts val="800"/>
              </a:spcAft>
              <a:buSzPct val="100000"/>
              <a:buChar char="•"/>
            </a:pPr>
            <a:r>
              <a:rPr sz="1500" b="1">
                <a:solidFill>
                  <a:srgbClr val="1D2F82"/>
                </a:solidFill>
                <a:latin typeface="Calibri"/>
              </a:rPr>
              <a:t>Problem recap:</a:t>
            </a:r>
            <a:endParaRPr lang="en-US" sz="1600" dirty="0"/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Answer quality inside a RAG pipeline depends heavily on how retrieved context is handed to the LLM — the prompting strategy — not just on retrieval quality.</a:t>
            </a:r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No controlled study isolates prompting strategy as the sole variable while holding chunking, embeddings, retrieval, and the base model fixed.</a:t>
            </a:r>
          </a:p>
          <a:p>
            <a:pPr>
              <a:spcBef>
                <a:spcPts val="1600"/>
              </a:spcBef>
            </a:pPr>
            <a:r>
              <a:rPr sz="1500" b="1">
                <a:solidFill>
                  <a:srgbClr val="1D2F82"/>
                </a:solidFill>
                <a:latin typeface="Calibri"/>
              </a:rPr>
              <a:t>Objectives:</a:t>
            </a:r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Build a common, reusable RAG pipeline as the fixed experimental baseline.</a:t>
            </a:r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Implement four distinct prompting strategies on top of it — Zero-shot, Few-shot, Chain-of-Thought, Structured Output.</a:t>
            </a:r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Evaluate all strategies on an identical dataset and metric suite (RAGAS + a human-calibrated hallucination judge).</a:t>
            </a:r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Compare trade-offs in accuracy, hallucination rate, latency, and cost.</a:t>
            </a:r>
          </a:p>
          <a:p>
            <a:pPr>
              <a:spcBef>
                <a:spcPts val="1600"/>
              </a:spcBef>
            </a:pPr>
            <a:r>
              <a:rPr sz="1500" b="1">
                <a:solidFill>
                  <a:srgbClr val="1D2F82"/>
                </a:solidFill>
                <a:latin typeface="Calibri"/>
              </a:rPr>
              <a:t>Refinements after Review-I feedback:</a:t>
            </a:r>
          </a:p>
          <a:p>
            <a:pPr lvl="1">
              <a:spcBef>
                <a:spcPts val="600"/>
              </a:spcBef>
            </a:pPr>
            <a:r>
              <a:rPr sz="1250" b="1">
                <a:solidFill>
                  <a:srgbClr val="808080"/>
                </a:solidFill>
                <a:latin typeface="Calibri"/>
              </a:rPr>
              <a:t>•  </a:t>
            </a:r>
            <a:r>
              <a:rPr sz="1250">
                <a:solidFill>
                  <a:srgbClr val="000000"/>
                </a:solidFill>
                <a:latin typeface="Calibri"/>
              </a:rPr>
              <a:t>No major revisions were requested by the panel at Review-I; feedback was limited to minor clarifications, which have been folded into the project documentation and this deck.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411480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Lewis et al., 2020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Retrieval-Augmented Generation for Knowledge-Intensive NLP Tasks (NeurIPS)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Dense retriever + seq2seq generator, jointly fine-tuned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Cuts hallucination on knowledge tasks; prompt format on retrieved context not studied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Brown et al., 2020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Language Models are Few-Shot Learners (NeurIPS)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175B-param LM evaluated via in-context few-shot examples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Establishes few-shot prompting; not tested in a retrieval-grounded setting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Shuster et al., 2021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Retrieval Augmentation Reduces Hallucination in Conversation (EMNLP Findings)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Retrieval-augmented dialogue vs. retrieval-free baseline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Retrieval cuts hallucination; prompting on top of retrieval not varied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Wei et al., 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Chain-of-Thought Prompting Elicits Reasoning (NeurIPS)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Few-shot exemplars with intermediate reasoning steps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Improves reasoning; not evaluated for RAG grounding or hallucination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Kojima et al., 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Large Language Models are Zero-Shot Reasoners (NeurIPS)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Single trigger phrase (“Let's think step by step”), no exemplars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Zero-shot CoT rivals few-shot; not tested against retrieved 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Jiang et al., 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Active Retrieval Augmented Generation / FLARE (EMNLP)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Predicts the next sentence to trigger on-demand retrieval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Improves long-form generation; prompting for the final answer not the variable studied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Liu et al., 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Pre-train, Prompt, and Predict (ACM Comput. Surv.)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Systematic taxonomy of prompting methods across NLP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Catalogs prompting broadly; no controlled RAG-hallucination comparison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Ji et al., 2023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Survey of Hallucination in Natural Language Generation (ACM Comput. Surv.)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Literature survey of hallucination types, causes, and metrics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Frames a hallucination taxonomy; doesn't isolate prompting as a RAG mitigation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15 recent papers. Duplicate this slide as needed; conclude with research gaps identified.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39" y="1371600"/>
            <a:ext cx="2468880" cy="457200"/>
          </a:xfrm>
          <a:prstGeom prst="rect">
            <a:avLst/>
          </a:prstGeom>
          <a:solidFill>
            <a:srgbClr val="F5F6FA"/>
          </a:solidFill>
          <a:ln w="1587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000" b="0">
                <a:solidFill>
                  <a:srgbClr val="000000"/>
                </a:solidFill>
                <a:latin typeface="Calibri"/>
              </a:rPr>
              <a:t>RAGTruth QA subset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5,934 rows · Hugging Face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554480" y="1828800"/>
            <a:ext cx="0" cy="329184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965960"/>
            <a:ext cx="8778240" cy="960120"/>
          </a:xfrm>
          <a:prstGeom prst="rect">
            <a:avLst/>
          </a:prstGeom>
          <a:noFill/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02536"/>
            <a:ext cx="5486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1D2F82"/>
                </a:solidFill>
                <a:latin typeface="Calibri"/>
              </a:rPr>
              <a:t>FIXED — identical for every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221992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Chunk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500 / 50 overlap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99232" y="2221992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Embed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text-embedding-3-small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30368" y="2221992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Chroma DB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vector store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34072" y="2221992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Retriever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top-k = 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31720" y="2487168"/>
            <a:ext cx="667512" cy="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53712" y="2487168"/>
            <a:ext cx="676656" cy="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84848" y="2487168"/>
            <a:ext cx="649224" cy="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211312" y="2752344"/>
            <a:ext cx="0" cy="265176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554480" y="3017520"/>
            <a:ext cx="6656832" cy="0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54480" y="3017520"/>
            <a:ext cx="0" cy="41148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76472" y="3017520"/>
            <a:ext cx="0" cy="41148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07608" y="3017520"/>
            <a:ext cx="0" cy="41148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11312" y="3017520"/>
            <a:ext cx="0" cy="41148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02920" y="3246120"/>
            <a:ext cx="8778240" cy="896112"/>
          </a:xfrm>
          <a:prstGeom prst="rect">
            <a:avLst/>
          </a:prstGeom>
          <a:noFill/>
          <a:ln w="15875">
            <a:solidFill>
              <a:srgbClr val="8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282696"/>
            <a:ext cx="6400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8A2A2A"/>
                </a:solidFill>
                <a:latin typeface="Calibri"/>
              </a:rPr>
              <a:t>THE ONE VARIABLE — prompt strategy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474720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000" b="1">
                <a:solidFill>
                  <a:srgbClr val="2A78D6"/>
                </a:solidFill>
                <a:latin typeface="Calibri"/>
              </a:rPr>
              <a:t>Zero-shot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99232" y="3474720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000" b="1">
                <a:solidFill>
                  <a:srgbClr val="EB6834"/>
                </a:solidFill>
                <a:latin typeface="Calibri"/>
              </a:rPr>
              <a:t>Few-shot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30368" y="3474720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BAF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000" b="1">
                <a:solidFill>
                  <a:srgbClr val="1BAF7A"/>
                </a:solidFill>
                <a:latin typeface="Calibri"/>
              </a:rPr>
              <a:t>Chain-of-Thought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34072" y="3474720"/>
            <a:ext cx="155448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4A3A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000" b="1">
                <a:solidFill>
                  <a:srgbClr val="4A3AA7"/>
                </a:solidFill>
                <a:latin typeface="Calibri"/>
              </a:rPr>
              <a:t>Structured Output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54480" y="4005072"/>
            <a:ext cx="0" cy="246888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776472" y="4005072"/>
            <a:ext cx="0" cy="246888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07608" y="4005072"/>
            <a:ext cx="0" cy="246888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211312" y="4005072"/>
            <a:ext cx="0" cy="246888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54480" y="4251960"/>
            <a:ext cx="6656832" cy="0"/>
          </a:xfrm>
          <a:prstGeom prst="line">
            <a:avLst/>
          </a:prstGeom>
          <a:ln w="1397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82896" y="4251960"/>
            <a:ext cx="0" cy="118872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3419856" y="4366259"/>
            <a:ext cx="2926080" cy="502920"/>
          </a:xfrm>
          <a:prstGeom prst="rect">
            <a:avLst/>
          </a:prstGeom>
          <a:solidFill>
            <a:srgbClr val="1D2F82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gpt-4o-mini · T = 0.0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shared generation call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82896" y="4869180"/>
            <a:ext cx="0" cy="205740"/>
          </a:xfrm>
          <a:prstGeom prst="line">
            <a:avLst/>
          </a:prstGeom>
          <a:ln w="13970">
            <a:solidFill>
              <a:srgbClr val="8080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3236976" y="5143500"/>
            <a:ext cx="3291840" cy="502920"/>
          </a:xfrm>
          <a:prstGeom prst="rect">
            <a:avLst/>
          </a:prstGeom>
          <a:solidFill>
            <a:srgbClr val="F5F6FA"/>
          </a:solidFill>
          <a:ln w="1587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/>
          <a:lstStyle/>
          <a:p>
            <a:pPr algn="ctr"/>
            <a:r>
              <a:rPr sz="1000" b="1">
                <a:solidFill>
                  <a:srgbClr val="000000"/>
                </a:solidFill>
                <a:latin typeface="Calibri"/>
              </a:rPr>
              <a:t>RAGAS + LLM Hallucination Judge</a:t>
            </a:r>
          </a:p>
          <a:p>
            <a:pPr algn="ctr"/>
            <a:r>
              <a:rPr sz="850">
                <a:solidFill>
                  <a:srgbClr val="808080"/>
                </a:solidFill>
                <a:latin typeface="Calibri"/>
              </a:rPr>
              <a:t>calibrated against RAGTruth labels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64040" y="2377440"/>
            <a:ext cx="2194560" cy="2377440"/>
          </a:xfrm>
          <a:prstGeom prst="rect">
            <a:avLst/>
          </a:prstGeom>
          <a:solidFill>
            <a:srgbClr val="F5F6FA"/>
          </a:solidFill>
          <a:ln w="12700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tIns="164592" rIns="146304" wrap="square"/>
          <a:lstStyle/>
          <a:p>
            <a:pPr algn="ctr"/>
            <a:r>
              <a:rPr b="1" sz="1200">
                <a:solidFill>
                  <a:srgbClr val="1D2F82"/>
                </a:solidFill>
                <a:latin typeface="Calibri"/>
              </a:rPr>
              <a:t>Why this design</a:t>
            </a:r>
          </a:p>
          <a:p>
            <a:pPr>
              <a:spcBef>
                <a:spcPts val="800"/>
              </a:spcBef>
            </a:pPr>
            <a:r>
              <a:rPr sz="1050">
                <a:solidFill>
                  <a:srgbClr val="000000"/>
                </a:solidFill>
                <a:latin typeface="Calibri"/>
              </a:rPr>
              <a:t>Retrieval is built once and reused, read-only, by all four strategies — so any measured difference can only come from the prompt.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1400"/>
              </a:spcBef>
              <a:spcAft>
                <a:spcPts val="800"/>
              </a:spcAft>
              <a:buSzPct val="100000"/>
              <a:buChar char="•"/>
            </a:pPr>
            <a:r>
              <a:rPr sz="1400" b="1">
                <a:solidFill>
                  <a:srgbClr val="1D2F82"/>
                </a:solidFill>
                <a:latin typeface="Calibri"/>
              </a:rPr>
              <a:t>Modules developed and integrated:</a:t>
            </a:r>
            <a:endParaRPr lang="en-US" sz="1600" dirty="0"/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data_loader.py — RAGTruth loading, QA-subset filtering, eval/calibration split, corpus construction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ingest.py — chunking → embedding → ChromaDB indexing (shared, read-only across strategies)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prompts/ — four independent LangChain LCEL chains (zero_shot, few_shot, chain_of_thought, structured_output)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evaluate.py — RAGAS wrapper + custom LLM hallucination judge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run_benchmark.py, generate_report.py — experiment runner and chart generation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webapp/ — FastAPI + WebSocket backend and JS frontend for live, interactive runs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D2F82"/>
                </a:solidFill>
                <a:latin typeface="Calibri"/>
              </a:rPr>
              <a:t>Algorithms implemented: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Recursive character-based chunking (500 chars / 50 overlap)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Dense vector retrieval via cosine similarity (ChromaDB, top-k = 4)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Four prompting algorithms: Zero-shot, Few-shot (3 exemplars), Chain-of-Thought (tagged reasoning/answer), Structured Output (Pydantic-enforced schema)</a:t>
            </a:r>
          </a:p>
          <a:p>
            <a:pPr lvl="1">
              <a:spcBef>
                <a:spcPts val="500"/>
              </a:spcBef>
            </a:pPr>
            <a:r>
              <a:rPr sz="1050" b="1">
                <a:solidFill>
                  <a:srgbClr val="808080"/>
                </a:solidFill>
                <a:latin typeface="Calibri"/>
              </a:rPr>
              <a:t>•  </a:t>
            </a:r>
            <a:r>
              <a:rPr sz="1050">
                <a:solidFill>
                  <a:srgbClr val="000000"/>
                </a:solidFill>
                <a:latin typeface="Calibri"/>
              </a:rPr>
              <a:t>Claim-decomposition LLM-judge algorithm — decomposes each answer into atomic claims and checks each individually against retrieved context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4370832"/>
            <a:ext cx="8412480" cy="15087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443984"/>
            <a:ext cx="8138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def chunk_documents(docs: list[Document]) -&gt; list[Document]: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splitter = RecursiveCharacterTextSplitter(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 chunk_size=config.CHUNK_SIZE,       # 500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 chunk_overlap=config.CHUNK_OVERLAP, # 50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 separators=["\n\n", "\n", ". ", " ", ""],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return splitter.split_documents(docs)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4480560"/>
            <a:ext cx="1920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808080"/>
                </a:solidFill>
                <a:latin typeface="Calibri"/>
              </a:rPr>
              <a:t>src/ingest.py — chunk_documents()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6424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828800"/>
                <a:gridCol w="1737360"/>
                <a:gridCol w="1554480"/>
                <a:gridCol w="219456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Halluc. Rate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Faithfulness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Latency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Cost / query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Zero-shot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0.183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0.755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1.58s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$0.000101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Few-shot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0.717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0.117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0.844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1.80s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$0.000137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Chain-of-Thought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0.700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0.167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3.23s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$0.000172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Structured Output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0.683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0.100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0.858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2.99s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$0.000193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749039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D2F82"/>
                </a:solidFill>
                <a:latin typeface="Calibri"/>
              </a:rPr>
              <a:t>Judge calibration (n=30, vs. RAGTruth human labels):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88720" cy="914400"/>
          </a:xfrm>
          <a:prstGeom prst="rect">
            <a:avLst/>
          </a:prstGeom>
          <a:solidFill>
            <a:srgbClr val="1D2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0.87</a:t>
            </a:r>
          </a:p>
          <a:p>
            <a:pPr algn="ctr"/>
            <a:r>
              <a:rPr sz="850">
                <a:solidFill>
                  <a:srgbClr val="C9D8E8"/>
                </a:solidFill>
                <a:latin typeface="Calibri"/>
              </a:rPr>
              <a:t>PRECISION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4069080"/>
            <a:ext cx="1188720" cy="914400"/>
          </a:xfrm>
          <a:prstGeom prst="rect">
            <a:avLst/>
          </a:prstGeom>
          <a:solidFill>
            <a:srgbClr val="1D2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0.87</a:t>
            </a:r>
          </a:p>
          <a:p>
            <a:pPr algn="ctr"/>
            <a:r>
              <a:rPr sz="850">
                <a:solidFill>
                  <a:srgbClr val="C9D8E8"/>
                </a:solidFill>
                <a:latin typeface="Calibri"/>
              </a:rPr>
              <a:t>RECALL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3255264" y="4069080"/>
            <a:ext cx="1188720" cy="914400"/>
          </a:xfrm>
          <a:prstGeom prst="rect">
            <a:avLst/>
          </a:prstGeom>
          <a:solidFill>
            <a:srgbClr val="1D2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0.87</a:t>
            </a:r>
          </a:p>
          <a:p>
            <a:pPr algn="ctr"/>
            <a:r>
              <a:rPr sz="850">
                <a:solidFill>
                  <a:srgbClr val="C9D8E8"/>
                </a:solidFill>
                <a:latin typeface="Calibri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08575" y="4069080"/>
            <a:ext cx="1188720" cy="914400"/>
          </a:xfrm>
          <a:prstGeom prst="rect">
            <a:avLst/>
          </a:prstGeom>
          <a:solidFill>
            <a:srgbClr val="1D2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0.87</a:t>
            </a:r>
          </a:p>
          <a:p>
            <a:pPr algn="ctr"/>
            <a:r>
              <a:rPr sz="850">
                <a:solidFill>
                  <a:srgbClr val="C9D8E8"/>
                </a:solidFill>
                <a:latin typeface="Calibri"/>
              </a:rPr>
              <a:t>ACCURACY</a:t>
            </a:r>
          </a:p>
        </p:txBody>
      </p:sp>
      <p:pic>
        <p:nvPicPr>
          <p:cNvPr id="11" name="Picture 10" descr="accuracy_vs_hallucin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749039"/>
            <a:ext cx="3730752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08076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808080"/>
                </a:solidFill>
                <a:latin typeface="Calibri"/>
              </a:rPr>
              <a:t>n = 60 questions per strategy — real, completed benchmark run, not illustrative.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radar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417320"/>
            <a:ext cx="2651760" cy="2651760"/>
          </a:xfrm>
          <a:prstGeom prst="rect">
            <a:avLst/>
          </a:prstGeom>
        </p:spPr>
      </p:pic>
      <p:pic>
        <p:nvPicPr>
          <p:cNvPr id="6" name="Picture 5" descr="faithful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39" y="1417320"/>
            <a:ext cx="3712464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4630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D2F82"/>
                </a:solidFill>
                <a:latin typeface="Calibri"/>
              </a:rPr>
              <a:t>Strategy colors: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680960" y="1828800"/>
            <a:ext cx="164592" cy="1645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36992" y="1801368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</a:rPr>
              <a:t>Zero-shot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2121408"/>
            <a:ext cx="164592" cy="164592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2093976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</a:rPr>
              <a:t>Few-shot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2414015"/>
            <a:ext cx="164592" cy="164592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6992" y="2386584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</a:rPr>
              <a:t>Chain-of-Thought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2706623"/>
            <a:ext cx="164592" cy="164592"/>
          </a:xfrm>
          <a:prstGeom prst="rect">
            <a:avLst/>
          </a:prstGeom>
          <a:solidFill>
            <a:srgbClr val="4A3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2679191"/>
            <a:ext cx="3474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000000"/>
                </a:solidFill>
                <a:latin typeface="Calibri"/>
              </a:rPr>
              <a:t>Structured 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2F82"/>
                </a:solidFill>
                <a:latin typeface="Calibri"/>
              </a:rPr>
              <a:t>Findings vs. the original hypothesis: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663440"/>
            <a:ext cx="108813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808080"/>
                </a:solidFill>
                <a:latin typeface="Calibri"/>
              </a:rPr>
              <a:t>—  </a:t>
            </a:r>
            <a:r>
              <a:rPr sz="1200" b="1">
                <a:solidFill>
                  <a:srgbClr val="000000"/>
                </a:solidFill>
                <a:latin typeface="Calibri"/>
              </a:rPr>
              <a:t>Structured Output wins on grounding </a:t>
            </a:r>
            <a:r>
              <a:rPr sz="1200">
                <a:solidFill>
                  <a:srgbClr val="000000"/>
                </a:solidFill>
                <a:latin typeface="Calibri"/>
              </a:rPr>
              <a:t>(lowest hallucination, highest Faithfulness/Relevancy) but has the lowest accuracy — forcing verbatim citation makes it hedge on answerable questions.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808080"/>
                </a:solidFill>
                <a:latin typeface="Calibri"/>
              </a:rPr>
              <a:t>—  </a:t>
            </a:r>
            <a:r>
              <a:rPr sz="1200" b="1">
                <a:solidFill>
                  <a:srgbClr val="000000"/>
                </a:solidFill>
                <a:latin typeface="Calibri"/>
              </a:rPr>
              <a:t>Chain-of-Thought does not beat Few-shot </a:t>
            </a:r>
            <a:r>
              <a:rPr sz="1200">
                <a:solidFill>
                  <a:srgbClr val="000000"/>
                </a:solidFill>
                <a:latin typeface="Calibri"/>
              </a:rPr>
              <a:t>on hallucination rate (16.7% vs 11.7%) despite ~2x the latency — contradicts the going-in hypothesis, and is reported honestly rather than smoothed over.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808080"/>
                </a:solidFill>
                <a:latin typeface="Calibri"/>
              </a:rPr>
              <a:t>—  </a:t>
            </a:r>
            <a:r>
              <a:rPr sz="1200" b="1">
                <a:solidFill>
                  <a:srgbClr val="000000"/>
                </a:solidFill>
                <a:latin typeface="Calibri"/>
              </a:rPr>
              <a:t>Few-shot is the strongest all-around strategy </a:t>
            </a:r>
            <a:r>
              <a:rPr sz="1200">
                <a:solidFill>
                  <a:srgbClr val="000000"/>
                </a:solidFill>
                <a:latin typeface="Calibri"/>
              </a:rPr>
              <a:t>in this run: best accuracy, second-best hallucination rate, far cheaper than CoT or Structured Output.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Bef>
                <a:spcPts val="1400"/>
              </a:spcBef>
              <a:spcAft>
                <a:spcPts val="800"/>
              </a:spcAft>
              <a:buSzPct val="100000"/>
              <a:buChar char="•"/>
            </a:pPr>
            <a:r>
              <a:rPr sz="1450" b="1">
                <a:solidFill>
                  <a:srgbClr val="1D2F82"/>
                </a:solidFill>
                <a:latin typeface="Calibri"/>
              </a:rPr>
              <a:t>Challenges faced and solutions:</a:t>
            </a:r>
            <a:endParaRPr lang="en-US" sz="1600" dirty="0"/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RAGAS import crashed at runtime (a dependency it hard-imports was removed upstream) — fixed with a small, documented compatibility shim.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The LLM hallucination judge under-counted real hallucinations (recall 0.20 against RAGTruth's human labels) — found via calibration, fixed by making the judge decompose answers into atomic claims and check each individually; recall rose to 0.87.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Re-running ingestion silently accumulated duplicate chunks in the vector store instead of replacing them — fixed by clearing the collection before every rebuild.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ChromaDB's default dependency required a C++ compiler unavailable on the dev machine — resolved by using ChromaDB's newer Rust-backed release, which ships prebuilt Windows wheels.</a:t>
            </a:r>
          </a:p>
          <a:p>
            <a:pPr>
              <a:spcBef>
                <a:spcPts val="1400"/>
              </a:spcBef>
            </a:pPr>
            <a:r>
              <a:rPr sz="1450" b="1">
                <a:solidFill>
                  <a:srgbClr val="1D2F82"/>
                </a:solidFill>
                <a:latin typeface="Calibri"/>
              </a:rPr>
              <a:t>Remaining work (25%):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Statistical significance / confidence intervals on the observed strategy gaps (not yet computed at n=60).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A larger-scale run to tighten those confidence intervals.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Final written report and production-scenario recommendations.</a:t>
            </a:r>
          </a:p>
          <a:p>
            <a:pPr>
              <a:spcBef>
                <a:spcPts val="1400"/>
              </a:spcBef>
            </a:pPr>
            <a:r>
              <a:rPr sz="1450" b="1">
                <a:solidFill>
                  <a:srgbClr val="1D2F82"/>
                </a:solidFill>
                <a:latin typeface="Calibri"/>
              </a:rPr>
              <a:t>Timeline for completion by Review-III (28.10.2026):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Weeks 1–2 (Sep 30 – Oct 14): larger-sample benchmark run; statistical significance analysis on all metrics.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Week 3 (Oct 15 – Oct 21): results interpretation and final report drafting.</a:t>
            </a:r>
          </a:p>
          <a:p>
            <a:pPr lvl="1">
              <a:spcBef>
                <a:spcPts val="600"/>
              </a:spcBef>
            </a:pPr>
            <a:r>
              <a:rPr sz="1150" b="1">
                <a:solidFill>
                  <a:srgbClr val="808080"/>
                </a:solidFill>
                <a:latin typeface="Calibri"/>
              </a:rPr>
              <a:t>•  </a:t>
            </a:r>
            <a:r>
              <a:rPr sz="1150">
                <a:solidFill>
                  <a:srgbClr val="000000"/>
                </a:solidFill>
                <a:latin typeface="Calibri"/>
              </a:rPr>
              <a:t>Week 4 (Oct 22 – Oct 28): report finalization, Review-III deck, and rehearsal.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53492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sz="1000" b="1">
                <a:solidFill>
                  <a:srgbClr val="1D2F82"/>
                </a:solidFill>
                <a:latin typeface="Consolas"/>
              </a:rPr>
              <a:t>[1]  </a:t>
            </a:r>
            <a:r>
              <a:rPr sz="1000">
                <a:solidFill>
                  <a:srgbClr val="000000"/>
                </a:solidFill>
                <a:latin typeface="Calibri"/>
              </a:rPr>
              <a:t>P. Lewis et al., “Retrieval-augmented generation for knowledge-intensive NLP tasks,” in Advances in Neural Information Processing Systems 33 (NeurIPS 2020), 2020.</a:t>
            </a:r>
            <a:endParaRPr lang="en-US" sz="1600" dirty="0"/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[2]  </a:t>
            </a:r>
            <a:r>
              <a:rPr sz="1000">
                <a:solidFill>
                  <a:srgbClr val="000000"/>
                </a:solidFill>
                <a:latin typeface="Calibri"/>
              </a:rPr>
              <a:t>T. B. Brown et al., “Language models are few-shot learners,” in Advances in Neural Information Processing Systems 33 (NeurIPS 2020), 2020.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[3]  </a:t>
            </a:r>
            <a:r>
              <a:rPr sz="1000">
                <a:solidFill>
                  <a:srgbClr val="000000"/>
                </a:solidFill>
                <a:latin typeface="Calibri"/>
              </a:rPr>
              <a:t>K. Shuster, S. Poff, M. Chen, D. Kiela, and J. Weston, “Retrieval augmentation reduces hallucination in conversation,” in Findings of ACL: EMNLP 2021, Punta Cana, Dominican Republic, Nov. 2021, pp. 3784–3803.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[4]  </a:t>
            </a:r>
            <a:r>
              <a:rPr sz="1000">
                <a:solidFill>
                  <a:srgbClr val="000000"/>
                </a:solidFill>
                <a:latin typeface="Calibri"/>
              </a:rPr>
              <a:t>J. Wei et al., “Chain-of-thought prompting elicits reasoning in large language models,” in Advances in Neural Information Processing Systems 35 (NeurIPS 2022), 2022.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[5]  </a:t>
            </a:r>
            <a:r>
              <a:rPr sz="1000">
                <a:solidFill>
                  <a:srgbClr val="000000"/>
                </a:solidFill>
                <a:latin typeface="Calibri"/>
              </a:rPr>
              <a:t>T. Kojima, S. S. Gu, M. Reid, Y. Matsuo, and Y. Iwasawa, “Large language models are zero-shot reasoners,” in Advances in Neural Information Processing Systems 35 (NeurIPS 2022), 2022.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[6]  </a:t>
            </a:r>
            <a:r>
              <a:rPr sz="1000">
                <a:solidFill>
                  <a:srgbClr val="000000"/>
                </a:solidFill>
                <a:latin typeface="Calibri"/>
              </a:rPr>
              <a:t>Z. Jiang et al., “Active retrieval augmented generation,” in Proc. 2023 Conf. Empirical Methods in Natural Language Processing (EMNLP), Singapore, Dec. 2023, pp. 7969–7992.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[7]  </a:t>
            </a:r>
            <a:r>
              <a:rPr sz="1000">
                <a:solidFill>
                  <a:srgbClr val="000000"/>
                </a:solidFill>
                <a:latin typeface="Calibri"/>
              </a:rPr>
              <a:t>P. Liu, W. Yuan, J. Fu, Z. Jiang, H. Hayashi, and G. Neubig, “Pre-train, prompt, and predict: A systematic survey of prompting methods in natural language processing,” ACM Computing Surveys, vol. 55, no. 9, pp. 1–35, Jan. 2023.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[8]  </a:t>
            </a:r>
            <a:r>
              <a:rPr sz="1000">
                <a:solidFill>
                  <a:srgbClr val="000000"/>
                </a:solidFill>
                <a:latin typeface="Calibri"/>
              </a:rPr>
              <a:t>Z. Ji et al., “Survey of hallucination in natural language generation,” ACM Computing Surveys, vol. 55, no. 12, 2023.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IEEE format. Every reference listed must be cited in the slides / report.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6172200" y="1325880"/>
            <a:ext cx="534924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[9]  </a:t>
            </a:r>
            <a:r>
              <a:rPr sz="1000">
                <a:solidFill>
                  <a:srgbClr val="000000"/>
                </a:solidFill>
                <a:latin typeface="Calibri"/>
              </a:rPr>
              <a:t>Y. Gao et al., “Retrieval-augmented generation for large language models: A survey,” arXiv preprint arXiv:2312.10997, Dec. 2023.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[10]  </a:t>
            </a:r>
            <a:r>
              <a:rPr sz="1000">
                <a:solidFill>
                  <a:srgbClr val="000000"/>
                </a:solidFill>
                <a:latin typeface="Calibri"/>
              </a:rPr>
              <a:t>L. Zheng et al., “Judging LLM-as-a-judge with MT-Bench and Chatbot Arena,” in Advances in Neural Information Processing Systems 36 (NeurIPS 2023), Datasets and Benchmarks Track, 2023.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[11]  </a:t>
            </a:r>
            <a:r>
              <a:rPr sz="1000">
                <a:solidFill>
                  <a:srgbClr val="000000"/>
                </a:solidFill>
                <a:latin typeface="Calibri"/>
              </a:rPr>
              <a:t>S. Es, J. James, L. Espinosa-Anke, and S. Schockaert, “RAGAS: Automated evaluation of retrieval augmented generation,” in Proc. 18th Conf. European Chapter Assoc. Comput. Linguistics: System Demonstrations (EACL), St. Julian’s, Malta, Mar. 2024, pp. 150–158.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[12]  </a:t>
            </a:r>
            <a:r>
              <a:rPr sz="1000">
                <a:solidFill>
                  <a:srgbClr val="000000"/>
                </a:solidFill>
                <a:latin typeface="Calibri"/>
              </a:rPr>
              <a:t>C. Niu et al., “RAGTruth: A hallucination corpus for developing trustworthy retrieval-augmented language models,” in Proc. 62nd Annual Meeting Assoc. Comput. Linguistics (ACL), Vol. 1: Long Papers, Bangkok, Thailand, Aug. 2024, pp. 10862–10878.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[13]  </a:t>
            </a:r>
            <a:r>
              <a:rPr sz="1000">
                <a:solidFill>
                  <a:srgbClr val="000000"/>
                </a:solidFill>
                <a:latin typeface="Calibri"/>
              </a:rPr>
              <a:t>A. Asai, Z. Wu, Y. Wang, A. Sil, and H. Hajishirzi, “Self-RAG: Learning to retrieve, generate, and critique through self-reflection,” in Proc. 12th Int. Conf. Learning Representations (ICLR), 2024.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[14]  </a:t>
            </a:r>
            <a:r>
              <a:rPr sz="1000">
                <a:solidFill>
                  <a:srgbClr val="000000"/>
                </a:solidFill>
                <a:latin typeface="Calibri"/>
              </a:rPr>
              <a:t>S.-Q. Yan, J.-C. Gu, Y. Zhu, and Z.-H. Ling, “Corrective retrieval augmented generation,” arXiv preprint arXiv:2401.15884, Jan. 2024.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000" b="1">
                <a:solidFill>
                  <a:srgbClr val="1D2F82"/>
                </a:solidFill>
                <a:latin typeface="Consolas"/>
              </a:rPr>
              <a:t>[15]  </a:t>
            </a:r>
            <a:r>
              <a:rPr sz="1000">
                <a:solidFill>
                  <a:srgbClr val="000000"/>
                </a:solidFill>
                <a:latin typeface="Calibri"/>
              </a:rPr>
              <a:t>N. F. Liu et al., “Lost in the middle: How language models use long contexts,” Trans. Assoc. Comput. Linguistics, vol. 12, pp. 157–173, 2024.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57432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</a:pPr>
            <a:r>
              <a:rPr sz="1000" b="0" i="0">
                <a:solidFill>
                  <a:srgbClr val="808080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2F82"/>
                </a:solidFill>
                <a:latin typeface="Calibri"/>
              </a:rPr>
              <a:t>Detailed Literature Review (contd.)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2" y="320040"/>
            <a:ext cx="1371600" cy="52120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109167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920240"/>
                <a:gridCol w="3108960"/>
                <a:gridCol w="2377440"/>
                <a:gridCol w="313639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No.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Author(s) &amp; Year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Title / Source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Method / Approach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Findings &amp; Research Gap</a:t>
                      </a:r>
                    </a:p>
                  </a:txBody>
                  <a:tcPr anchor="ctr" marL="54864" marR="54864" marT="18288" marB="18288"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Gao et al., 2023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Retrieval-Augmented Generation for LLMs: A Survey (arXiv)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Survey of RAG architectures and augmentation techniques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Maps the RAG design space; prompting is a minor sub-topic, not benchmarked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Zheng et al., 2023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Judging LLM-as-a-Judge with MT-Bench and Chatbot Arena (NeurIPS)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LLM-graded scoring validated against human agreement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Validates LLM-as-judge; motivates this project's judge-calibration step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Es et al., 2024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RAGAS: Automated Evaluation of RAG (EACL)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Reference-free Faithfulness / Answer Relevancy via LLM prompting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Automates RAG evaluation; doesn't compare prompting strategies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Niu et al., 2024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RAGTruth: A Hallucination Corpus for RAG (ACL)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~18K human-annotated RAG responses, labeled by span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Rich ground truth; labels apply to original models' answers — used as this project's dataset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Asai et al., 2024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Self-RAG: Learning to Retrieve, Generate, and Critique (ICLR)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Model fine-tuned to emit reflection tokens and self-critique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Reduces unsupported claims via self-critique; needs fine-tuning, not a prompting-only comparison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Yan et al., 2024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Corrective Retrieval Augmented Generation (arXiv)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Retrieval evaluator triggers correction / web search on low confidence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Improves robustness to poor retrieval; targets retrieval quality, not prompt design</a:t>
                      </a:r>
                    </a:p>
                  </a:txBody>
                  <a:tcPr anchor="ctr" marL="54864" marR="54864" marT="18288" marB="18288">
                    <a:solidFill>
                      <a:srgbClr val="F5F6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Liu et al., 2024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Lost in the Middle: How LMs Use Long Contexts (TACL)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Varies the position of the answer-bearing passage in context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Context use is non-uniform (U-shaped); motivates why prompt structure affects grounded accuracy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808080"/>
                </a:solidFill>
                <a:latin typeface="Calibri"/>
              </a:rPr>
              <a:t>Research gap: no existing work isolates prompting strategy as the sole variable in a RAG pipeline while holding retrieval, embeddings, and the base model fixed — the gap this project addresses (see Proposed Solution, Review-I).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344</Words>
  <Application>Microsoft Macintosh PowerPoint</Application>
  <PresentationFormat>Widescreen</PresentationFormat>
  <Paragraphs>73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2026-09-23T05:52:39Z</dcterms:modified>
</cp:coreProperties>
</file>
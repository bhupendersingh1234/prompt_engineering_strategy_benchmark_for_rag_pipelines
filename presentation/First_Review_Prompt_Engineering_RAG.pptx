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85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A4F58"/>
                </a:solidFill>
                <a:latin typeface="Georgia"/>
              </a:rPr>
              <a:t>VIT CHENNAI  —  B.Tech Project – I  — 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1A1D22"/>
                </a:solidFill>
                <a:latin typeface="Georgia"/>
              </a:rPr>
              <a:t>Prompt Engineering Strategy Benchmark for RAG Pipelines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2148840"/>
            <a:ext cx="11365992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2450592"/>
            <a:ext cx="5257800" cy="19659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201168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Georgia"/>
              </a:rPr>
              <a:t>Project Team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FFFFF"/>
                </a:solidFill>
                <a:latin typeface="Segoe UI"/>
              </a:rPr>
              <a:t>23BAI1057</a:t>
            </a:r>
            <a:r>
              <a:rPr sz="1350">
                <a:solidFill>
                  <a:srgbClr val="DDE6F0"/>
                </a:solidFill>
                <a:latin typeface="Segoe UI"/>
              </a:rPr>
              <a:t>  —  Astitva Thakkar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FFFFF"/>
                </a:solidFill>
                <a:latin typeface="Segoe UI"/>
              </a:rPr>
              <a:t>23BAI1528</a:t>
            </a:r>
            <a:r>
              <a:rPr sz="1350">
                <a:solidFill>
                  <a:srgbClr val="DDE6F0"/>
                </a:solidFill>
                <a:latin typeface="Segoe UI"/>
              </a:rPr>
              <a:t>  —  Parth Sharma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FFFFF"/>
                </a:solidFill>
                <a:latin typeface="Segoe UI"/>
              </a:rPr>
              <a:t>23BRS1107</a:t>
            </a:r>
            <a:r>
              <a:rPr sz="1350">
                <a:solidFill>
                  <a:srgbClr val="DDE6F0"/>
                </a:solidFill>
                <a:latin typeface="Segoe UI"/>
              </a:rPr>
              <a:t>  —  Bhupender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4505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D22"/>
                </a:solidFill>
                <a:latin typeface="Georgia"/>
              </a:rPr>
              <a:t>Faculty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9077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F58"/>
                </a:solidFill>
                <a:latin typeface="Segoe UI"/>
              </a:rPr>
              <a:t>Name: Manmohan Sharma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735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F58"/>
                </a:solidFill>
                <a:latin typeface="Segoe UI"/>
              </a:rPr>
              <a:t>ERP ID: 53622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393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F58"/>
                </a:solidFill>
                <a:latin typeface="Segoe UI"/>
              </a:rPr>
              <a:t>School: SENSE (School of Electronics and Communication Engineering)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114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F58"/>
                </a:solidFill>
                <a:latin typeface="Segoe UI"/>
              </a:rPr>
              <a:t>Signature: 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/>
            <a:r>
              <a:rPr sz="12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Retrieval fixes hallucination — prompting still decides how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4F58"/>
                </a:solidFill>
                <a:latin typeface="Segoe UI"/>
              </a:rPr>
              <a:t>RAG grounds an LLM in real documents, but no controlled study isolates the prompt as the only variable.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6309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Large Language Models </a:t>
            </a:r>
            <a:r>
              <a:rPr sz="1550">
                <a:solidFill>
                  <a:srgbClr val="1A1D22"/>
                </a:solidFill>
                <a:latin typeface="Segoe UI"/>
              </a:rPr>
              <a:t>hallucinate when answering from parameters alone — RAG mitigates this by retrieving relevant context before generation.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Answer quality still depends heavily </a:t>
            </a:r>
            <a:r>
              <a:rPr sz="1550">
                <a:solidFill>
                  <a:srgbClr val="1A1D22"/>
                </a:solidFill>
                <a:latin typeface="Segoe UI"/>
              </a:rPr>
              <a:t>on how that retrieved context is handed to the model — the prompting strategy.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Published comparisons rarely isolate the prompt</a:t>
            </a:r>
            <a:r>
              <a:rPr sz="1550">
                <a:solidFill>
                  <a:srgbClr val="1A1D22"/>
                </a:solidFill>
                <a:latin typeface="Segoe UI"/>
              </a:rPr>
              <a:t> — they change retrieval, embeddings, or the base model at the same time, so the reported gain can't be attributed to the prompt alone.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This project's thesis: </a:t>
            </a:r>
            <a:r>
              <a:rPr sz="1550">
                <a:solidFill>
                  <a:srgbClr val="1A1D22"/>
                </a:solidFill>
                <a:latin typeface="Segoe UI"/>
              </a:rPr>
              <a:t>hold chunking, embeddings, vector store, top-k, and the base LLM strictly constant, and vary only the prompting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965960"/>
            <a:ext cx="4480560" cy="3566160"/>
          </a:xfrm>
          <a:prstGeom prst="rect">
            <a:avLst/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256032" rIns="256032"/>
          <a:lstStyle/>
          <a:p>
            <a:pPr algn="ctr"/>
            <a:r>
              <a:rPr b="1" sz="1400">
                <a:solidFill>
                  <a:srgbClr val="0D3B66"/>
                </a:solidFill>
                <a:latin typeface="Segoe UI"/>
              </a:rPr>
              <a:t>Four strategies under test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A1D22"/>
                </a:solidFill>
                <a:latin typeface="Segoe UI"/>
              </a:rPr>
              <a:t>•  Zero-shot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A1D22"/>
                </a:solidFill>
                <a:latin typeface="Segoe UI"/>
              </a:rPr>
              <a:t>•  Few-shot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A1D22"/>
                </a:solidFill>
                <a:latin typeface="Segoe UI"/>
              </a:rPr>
              <a:t>•  Chain-of-Thought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A1D22"/>
                </a:solidFill>
                <a:latin typeface="Segoe UI"/>
              </a:rPr>
              <a:t>•  Structured Output</a:t>
            </a:r>
          </a:p>
          <a:p>
            <a:pPr>
              <a:spcBef>
                <a:spcPts val="1600"/>
              </a:spcBef>
            </a:pPr>
            <a:r>
              <a:rPr sz="1250" i="1">
                <a:solidFill>
                  <a:srgbClr val="4A4F58"/>
                </a:solidFill>
                <a:latin typeface="Segoe UI"/>
              </a:rPr>
              <a:t>Dataset: RAGTruth (wandb/RAGTruth-processed, HF)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02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Four objectives — where each one stands today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874519"/>
            <a:ext cx="1106424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208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E7A4C"/>
                </a:solidFill>
                <a:latin typeface="Segoe U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94767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D22"/>
                </a:solidFill>
                <a:latin typeface="Segoe UI"/>
              </a:rPr>
              <a:t>Build a common, reusable RAG pipeline as the fixed experimental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33172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F58"/>
                </a:solidFill>
                <a:latin typeface="Segoe UI"/>
              </a:rPr>
              <a:t>Chunking → embeddings → ChromaDB, built and reused unchanged by every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53511"/>
            <a:ext cx="1106424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3099815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E7A4C"/>
                </a:solidFill>
                <a:latin typeface="Segoe U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026663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D22"/>
                </a:solidFill>
                <a:latin typeface="Segoe UI"/>
              </a:rPr>
              <a:t>Implement four distinct prompting strategies on top of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410711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F58"/>
                </a:solidFill>
                <a:latin typeface="Segoe UI"/>
              </a:rPr>
              <a:t>All four LCEL chains coded, unit-tested, and independently runnable.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32503"/>
            <a:ext cx="1106424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4178807"/>
            <a:ext cx="1175004" cy="274320"/>
          </a:xfrm>
          <a:prstGeom prst="roundRect">
            <a:avLst>
              <a:gd name="adj" fmla="val 50000"/>
            </a:avLst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9A6A12"/>
                </a:solidFill>
                <a:latin typeface="Segoe UI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9404" y="4105655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D22"/>
                </a:solidFill>
                <a:latin typeface="Segoe UI"/>
              </a:rPr>
              <a:t>Evaluate all strategies with an identical dataset and metric suite.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9404" y="4489703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F58"/>
                </a:solidFill>
                <a:latin typeface="Segoe UI"/>
              </a:rPr>
              <a:t>RAGAS + a custom hallucination judge are built and validated; the full-scale run across all four strategies is in progress.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11495"/>
            <a:ext cx="1106424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5257799"/>
            <a:ext cx="827532" cy="27432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1932" y="5184647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D22"/>
                </a:solidFill>
                <a:latin typeface="Segoe UI"/>
              </a:rPr>
              <a:t>Compare trade-offs in accuracy, hallucination rate, and response quality.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1932" y="5568695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F58"/>
                </a:solidFill>
                <a:latin typeface="Segoe UI"/>
              </a:rPr>
              <a:t>Reserved for the final review, once the full-scale run and statistical comparison are complete.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Fixed backbone, one variable stage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39" y="1531619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0">
                <a:solidFill>
                  <a:srgbClr val="1A1D22"/>
                </a:solidFill>
                <a:latin typeface="Segoe UI"/>
              </a:rPr>
              <a:t>RAGTruth QA subset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5,934 rows · Hugging 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034540"/>
            <a:ext cx="0" cy="37947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48840"/>
            <a:ext cx="8778240" cy="10515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3B66"/>
                </a:solidFill>
                <a:latin typeface="Segoe UI"/>
              </a:rPr>
              <a:t>FIXED — identical for every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Chunk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500 / 50 overlap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Embed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text-embedding-3-small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Chroma DB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vector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4072" y="2441448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1A1D22"/>
                </a:solidFill>
                <a:latin typeface="Segoe UI"/>
              </a:rPr>
              <a:t>Retriever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top-k = 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724912"/>
            <a:ext cx="667512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53712" y="2724912"/>
            <a:ext cx="676656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84848" y="2724912"/>
            <a:ext cx="649224" cy="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11312" y="3008376"/>
            <a:ext cx="0" cy="301752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54480" y="3310128"/>
            <a:ext cx="6656832" cy="0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76472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7608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11312" y="3310128"/>
            <a:ext cx="0" cy="448056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3520440"/>
            <a:ext cx="8778240" cy="9601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A9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9333F"/>
                </a:solidFill>
                <a:latin typeface="Segoe UI"/>
              </a:rPr>
              <a:t>THE ONE VARIABLE — prompt strategy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2A78D6"/>
                </a:solidFill>
                <a:latin typeface="Segoe UI"/>
              </a:rPr>
              <a:t>Zero-shot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9232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EB6834"/>
                </a:solidFill>
                <a:latin typeface="Segoe UI"/>
              </a:rPr>
              <a:t>Few-shot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1BAF7A"/>
                </a:solidFill>
                <a:latin typeface="Segoe UI"/>
              </a:rPr>
              <a:t>Chain-of-Thought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4072" y="3758184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>
                <a:solidFill>
                  <a:srgbClr val="4A3AA7"/>
                </a:solidFill>
                <a:latin typeface="Segoe UI"/>
              </a:rPr>
              <a:t>Structured 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54480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6472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07608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11312" y="4325112"/>
            <a:ext cx="0" cy="246888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554480" y="4572000"/>
            <a:ext cx="6656832" cy="0"/>
          </a:xfrm>
          <a:prstGeom prst="line">
            <a:avLst/>
          </a:prstGeom>
          <a:ln w="15875">
            <a:solidFill>
              <a:srgbClr val="4A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82896" y="4572000"/>
            <a:ext cx="0" cy="11430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19856" y="468630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 w="15875">
            <a:solidFill>
              <a:srgbClr val="0D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gpt-4o-mini · T = 0.0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shared generation call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82896" y="5189220"/>
            <a:ext cx="0" cy="205740"/>
          </a:xfrm>
          <a:prstGeom prst="line">
            <a:avLst/>
          </a:prstGeom>
          <a:ln w="15875">
            <a:solidFill>
              <a:srgbClr val="4A4F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36976" y="5463540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>
                <a:solidFill>
                  <a:srgbClr val="1A1D22"/>
                </a:solidFill>
                <a:latin typeface="Segoe UI"/>
              </a:rPr>
              <a:t>RAGAS + LLM Hallucination Judge</a:t>
            </a:r>
          </a:p>
          <a:p>
            <a:pPr algn="ctr"/>
            <a:r>
              <a:rPr sz="950">
                <a:solidFill>
                  <a:srgbClr val="4A4F58"/>
                </a:solidFill>
                <a:latin typeface="Segoe UI"/>
              </a:rPr>
              <a:t>calibrated against RAGTruth labels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4040" y="342900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46304" wrap="square"/>
          <a:lstStyle/>
          <a:p>
            <a:pPr algn="ctr"/>
            <a:r>
              <a:rPr b="1" sz="1250">
                <a:solidFill>
                  <a:srgbClr val="0D3B66"/>
                </a:solidFill>
                <a:latin typeface="Segoe UI"/>
              </a:rPr>
              <a:t>Why this design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4A4F58"/>
                </a:solidFill>
                <a:latin typeface="Segoe UI"/>
              </a:rPr>
              <a:t>Retrieval is built once and reused, read-only, by all four strategies — so any measured difference can only come from the prompt.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04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What's fixed vs. what's tested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  <a:gridCol w="1737360"/>
              </a:tblGrid>
              <a:tr h="51435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>
                    <a:solidFill>
                      <a:srgbClr val="0D3B6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Chunking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RecursiveCharacterTextSplitter · 500 chars / 50 overlap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Embeddings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OpenAI text-embedding-3-small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Vector store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ChromaDB, persisted collection, built once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top-k = 4, same retriever object reused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Generation model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gpt-4o-mini, temperature 0.0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Grading judge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Same LLM judge &amp; taxonomy for every strategy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3B66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anchor="ctr" marL="109728" marT="45720" marB="45720">
                    <a:solidFill>
                      <a:srgbClr val="F7F9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D22"/>
                          </a:solidFill>
                          <a:latin typeface="Segoe UI"/>
                        </a:rPr>
                        <a:t>Prompt strategy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4F58"/>
                          </a:solidFill>
                          <a:latin typeface="Segoe UI"/>
                        </a:rPr>
                        <a:t>Zero-shot / Few-shot / Chain-of-Thought / Structured Output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9333F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05 ·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What it's built with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ORCHESTRATION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LangChain (LCEL)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VECTOR STORE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ChromaDB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65960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EMBEDDINGS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text-embedding-3-small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BASE LLM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gpt-4o-mini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VALIDATION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Pydantic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10712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EVALUATION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RAGAS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DATASET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RAGTruth (Hugging Face)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BACKEND / GUI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FastAPI + WebSocket +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855464"/>
            <a:ext cx="3520440" cy="11887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/>
          <a:lstStyle/>
          <a:p>
            <a:pPr algn="ctr"/>
            <a:r>
              <a:rPr sz="1000" b="1">
                <a:solidFill>
                  <a:srgbClr val="8A8F98"/>
                </a:solidFill>
                <a:latin typeface="Segoe UI"/>
              </a:rPr>
              <a:t>TESTING</a:t>
            </a:r>
          </a:p>
          <a:p>
            <a:pPr>
              <a:spcBef>
                <a:spcPts val="400"/>
              </a:spcBef>
            </a:pPr>
            <a:r>
              <a:rPr sz="1550" b="1">
                <a:solidFill>
                  <a:srgbClr val="0D3B66"/>
                </a:solidFill>
                <a:latin typeface="Segoe UI"/>
              </a:rPr>
              <a:t>pytest (14 tests)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06 · PROGRESS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What's built vs. what's reserved for the final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5806440" cy="4251960"/>
          </a:xfrm>
          <a:prstGeom prst="roundRect">
            <a:avLst>
              <a:gd name="adj" fmla="val 5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7A4C"/>
                </a:solidFill>
                <a:latin typeface="Segoe U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RAGTruth data pipeline — loading, QA-subset filtering, eval/calibration split, corpus construction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Chunking → embedding → ChromaDB indexing, shared read-only across all strategies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All 4 prompting strategy chains implemented in LangChain LCEL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Structured Output strategy's Pydantic schema (verbatim quotes + groundedness flag)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RAGAS integration (Faithfulness, Answer Relevancy)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Custom LLM hallucination judge, calibrated against RAGTruth's human labels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Interactive web dashboard — live pipeline run, progress, and charts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E7A4C"/>
                </a:solidFill>
                <a:latin typeface="Segoe UI"/>
              </a:rPr>
              <a:t>✓  </a:t>
            </a:r>
            <a:r>
              <a:rPr sz="1250">
                <a:solidFill>
                  <a:srgbClr val="14402A"/>
                </a:solidFill>
                <a:latin typeface="Segoe UI"/>
              </a:rPr>
              <a:t>Automated test suite — 14 tests, no API key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120640" cy="4251960"/>
          </a:xfrm>
          <a:prstGeom prst="roundRect">
            <a:avLst>
              <a:gd name="adj" fmla="val 5000"/>
            </a:avLst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2996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6A12"/>
                </a:solidFill>
                <a:latin typeface="Segoe UI"/>
              </a:rPr>
              <a:t>RESERVED FOR FINAL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95728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Full-scale benchmark run across all 4 strategies on the complete eval sample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Statistical comparison of accuracy / hallucination rate / faithfulness across strategies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Cost &amp; latency trade-off analysis at scale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1">
                <a:solidFill>
                  <a:srgbClr val="9A6A12"/>
                </a:solidFill>
                <a:latin typeface="Segoe UI"/>
              </a:rPr>
              <a:t>○  </a:t>
            </a:r>
            <a:r>
              <a:rPr sz="1250">
                <a:solidFill>
                  <a:srgbClr val="5A4008"/>
                </a:solidFill>
                <a:latin typeface="Segoe UI"/>
              </a:rPr>
              <a:t>Final recommendations: which strategy for which production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07 · FRAMEWORK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Is the judge itself trustworthy?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4F58"/>
                </a:solidFill>
                <a:latin typeface="Segoe UI"/>
              </a:rPr>
              <a:t>Before grading any strategy, the LLM hallucination judge is checked against RAGTruth's own human annotations.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965960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201168" rIns="219456" wrap="square"/>
          <a:lstStyle/>
          <a:p>
            <a:pPr algn="ctr"/>
            <a:r>
              <a:rPr b="1" sz="1400">
                <a:solidFill>
                  <a:srgbClr val="0D3B66"/>
                </a:solidFill>
                <a:latin typeface="Segoe UI"/>
              </a:rPr>
              <a:t>Why calibrate a judge?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4A4F58"/>
                </a:solidFill>
                <a:latin typeface="Segoe UI"/>
              </a:rPr>
              <a:t>RAGTruth's human labels were written for its own models' answers, not ours. So the judge is run on RAGTruth's original (context, response, human-label) triples, and its predictions are compared against those human labels — before it is trusted to grade any of our own strategies'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3904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1536" y="41605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0.87</a:t>
            </a:r>
          </a:p>
          <a:p>
            <a:pPr algn="ctr"/>
            <a:r>
              <a:rPr sz="950">
                <a:solidFill>
                  <a:srgbClr val="C9D8E8"/>
                </a:solidFill>
                <a:latin typeface="Segoe UI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965960"/>
            <a:ext cx="4754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201168" rIns="201168" wrap="square"/>
          <a:lstStyle/>
          <a:p>
            <a:pPr algn="ctr"/>
            <a:r>
              <a:rPr b="1" sz="1350">
                <a:solidFill>
                  <a:srgbClr val="0D3B66"/>
                </a:solidFill>
                <a:latin typeface="Segoe UI"/>
              </a:rPr>
              <a:t>Methodology detail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4A4F58"/>
                </a:solidFill>
                <a:latin typeface="Segoe UI"/>
              </a:rPr>
              <a:t>The judge is prompted to decompose each answer into atomic claims and check each one individually against the context — a single unsupported clause inside an otherwise-correct long answer must still be flagged.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8F98"/>
                </a:solidFill>
                <a:latin typeface="Segoe UI"/>
              </a:rPr>
              <a:t>n = 30 calibration rows, held out from the evaluation set. These are framework-validation numbers — not the strategy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08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What we'll show today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6675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Launch the web dashboard </a:t>
            </a:r>
            <a:r>
              <a:rPr sz="1550">
                <a:solidFill>
                  <a:srgbClr val="1A1D22"/>
                </a:solidFill>
                <a:latin typeface="Segoe UI"/>
              </a:rPr>
              <a:t>— configure a small sample and click Run.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Watch retrieval happen live </a:t>
            </a:r>
            <a:r>
              <a:rPr sz="1550">
                <a:solidFill>
                  <a:srgbClr val="1A1D22"/>
                </a:solidFill>
                <a:latin typeface="Segoe UI"/>
              </a:rPr>
              <a:t>— the same 4 chunks retrieved for every strategy, shown per question.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Watch one strategy answer, live </a:t>
            </a:r>
            <a:r>
              <a:rPr sz="1550">
                <a:solidFill>
                  <a:srgbClr val="1A1D22"/>
                </a:solidFill>
                <a:latin typeface="Segoe UI"/>
              </a:rPr>
              <a:t>— the pipeline stepper, a scrolling feed of questions as they're answered and judged.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Show the calibration panel </a:t>
            </a:r>
            <a:r>
              <a:rPr sz="1550">
                <a:solidFill>
                  <a:srgbClr val="1A1D22"/>
                </a:solidFill>
                <a:latin typeface="Segoe UI"/>
              </a:rPr>
              <a:t>— the judge-vs-human-label agreement numbers from Slide 8, computed live.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A1D22"/>
                </a:solidFill>
                <a:latin typeface="Segoe UI"/>
              </a:rPr>
              <a:t>—  </a:t>
            </a:r>
            <a:r>
              <a:rPr sz="1550" b="1">
                <a:solidFill>
                  <a:srgbClr val="1A1D22"/>
                </a:solidFill>
                <a:latin typeface="Segoe UI"/>
              </a:rPr>
              <a:t>Browse an individual answer </a:t>
            </a:r>
            <a:r>
              <a:rPr sz="1550">
                <a:solidFill>
                  <a:srgbClr val="1A1D22"/>
                </a:solidFill>
                <a:latin typeface="Segoe UI"/>
              </a:rPr>
              <a:t>— full retrieved context, generated answer, and judge rationale for one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965960"/>
            <a:ext cx="4160520" cy="3931920"/>
          </a:xfrm>
          <a:prstGeom prst="roundRect">
            <a:avLst>
              <a:gd name="adj" fmla="val 8000"/>
            </a:avLst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219456" rIns="219456" wrap="square"/>
          <a:lstStyle/>
          <a:p>
            <a:pPr algn="ctr"/>
            <a:r>
              <a:rPr b="1" sz="1350">
                <a:solidFill>
                  <a:srgbClr val="9A6A12"/>
                </a:solidFill>
                <a:latin typeface="Segoe UI"/>
              </a:rPr>
              <a:t>Deliberately out of scope today</a:t>
            </a:r>
          </a:p>
          <a:p>
            <a:pPr>
              <a:spcBef>
                <a:spcPts val="1200"/>
              </a:spcBef>
            </a:pPr>
            <a:r>
              <a:rPr sz="1250">
                <a:solidFill>
                  <a:srgbClr val="5A4008"/>
                </a:solidFill>
                <a:latin typeface="Segoe UI"/>
              </a:rPr>
              <a:t>✗  The full-scale, all-4-strategies benchmark run</a:t>
            </a:r>
          </a:p>
          <a:p>
            <a:pPr>
              <a:spcBef>
                <a:spcPts val="1200"/>
              </a:spcBef>
            </a:pPr>
            <a:r>
              <a:rPr sz="1250">
                <a:solidFill>
                  <a:srgbClr val="5A4008"/>
                </a:solidFill>
                <a:latin typeface="Segoe UI"/>
              </a:rPr>
              <a:t>✗  Final accuracy / hallucination-rate comparison numbers</a:t>
            </a:r>
          </a:p>
          <a:p>
            <a:pPr>
              <a:spcBef>
                <a:spcPts val="1200"/>
              </a:spcBef>
            </a:pPr>
            <a:r>
              <a:rPr sz="1250">
                <a:solidFill>
                  <a:srgbClr val="5A4008"/>
                </a:solidFill>
                <a:latin typeface="Segoe UI"/>
              </a:rPr>
              <a:t>✗  Any conclusion about which strategy “wins”</a:t>
            </a:r>
          </a:p>
          <a:p>
            <a:pPr>
              <a:spcBef>
                <a:spcPts val="1800"/>
              </a:spcBef>
            </a:pPr>
            <a:r>
              <a:rPr sz="1150" i="1">
                <a:solidFill>
                  <a:srgbClr val="5A4008"/>
                </a:solidFill>
                <a:latin typeface="Segoe UI"/>
              </a:rPr>
              <a:t>These are the headline result of the final review — showing them now would pre-empt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3B66"/>
                </a:solidFill>
                <a:latin typeface="Segoe UI"/>
              </a:rPr>
              <a:t>09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A1D22"/>
                </a:solidFill>
                <a:latin typeface="Georgia"/>
              </a:rPr>
              <a:t>Plan for the final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25296"/>
            <a:ext cx="11064240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0391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2"/>
                </a:solidFill>
                <a:latin typeface="Segoe UI"/>
              </a:rPr>
              <a:t>Scale up the eval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1343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Run all 4 strategies across the full evaluation set (n ≥ 60 questions) for statistically meaningful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278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8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2"/>
                </a:solidFill>
                <a:latin typeface="Segoe UI"/>
              </a:rPr>
              <a:t>Full comparative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021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Accuracy, hallucination rate, RAGAS Faithfulness / Answer Relevancy, latency, and cost — compared strategy vs.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165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2"/>
                </a:solidFill>
                <a:latin typeface="Segoe UI"/>
              </a:rPr>
              <a:t>Statistical robustness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9087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Quantify how much the sample size affects confidence in the observed differences.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0527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321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2"/>
                </a:solidFill>
                <a:latin typeface="Segoe UI"/>
              </a:rPr>
              <a:t>Final report &amp;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7959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F58"/>
                </a:solidFill>
                <a:latin typeface="Segoe UI"/>
              </a:rPr>
              <a:t>Which strategy to use for which production RAG scenario, with the trade-offs made explicit.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" bIns="0"/>
          <a:lstStyle/>
          <a:p>
            <a:pPr algn="l"/>
            <a:r>
              <a:rPr sz="1050">
                <a:solidFill>
                  <a:srgbClr val="A9333F"/>
                </a:solidFill>
                <a:latin typeface="Georgia"/>
              </a:rPr>
              <a:t>⚑  B.Tech Project – I | First Review | School of Computer Science and Engineering | VIT Chennai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82512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333F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
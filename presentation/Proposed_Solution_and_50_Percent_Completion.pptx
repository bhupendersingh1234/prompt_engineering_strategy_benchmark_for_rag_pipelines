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1792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A4F58"/>
                </a:solidFill>
                <a:latin typeface="Georgia"/>
              </a:rPr>
              <a:t>VIT CHENNAI  —  B.Tech Project – I  — 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7259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1">
                <a:solidFill>
                  <a:srgbClr val="0D3B66"/>
                </a:solidFill>
                <a:latin typeface="Segoe UI"/>
              </a:rPr>
              <a:t>Proposed Solution &amp; 50% Work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107259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0" i="0">
                <a:solidFill>
                  <a:srgbClr val="1A1D22"/>
                </a:solidFill>
                <a:latin typeface="Georgia"/>
              </a:rPr>
              <a:t>Prompt Engineering Strategy Benchmark for RAG Pipelines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" y="2331720"/>
            <a:ext cx="11365992" cy="0"/>
          </a:xfrm>
          <a:prstGeom prst="line">
            <a:avLst/>
          </a:prstGeom>
          <a:ln w="1270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2606040"/>
            <a:ext cx="5257800" cy="1828800"/>
          </a:xfrm>
          <a:prstGeom prst="rect">
            <a:avLst/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tIns="182880" rIns="182880"/>
          <a:lstStyle/>
          <a:p>
            <a:pPr algn="ctr"/>
            <a:r>
              <a:rPr sz="1500">
                <a:solidFill>
                  <a:srgbClr val="FFFFFF"/>
                </a:solidFill>
                <a:latin typeface="Georgia"/>
              </a:rPr>
              <a:t>Project Team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FFFFFF"/>
                </a:solidFill>
                <a:latin typeface="Segoe UI"/>
              </a:rPr>
              <a:t>23BAI1057</a:t>
            </a:r>
            <a:r>
              <a:rPr sz="1300">
                <a:solidFill>
                  <a:srgbClr val="DDE6F0"/>
                </a:solidFill>
                <a:latin typeface="Segoe UI"/>
              </a:rPr>
              <a:t>  —  Astitva Thakkar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FFFFFF"/>
                </a:solidFill>
                <a:latin typeface="Segoe UI"/>
              </a:rPr>
              <a:t>23BAI1528</a:t>
            </a:r>
            <a:r>
              <a:rPr sz="1300">
                <a:solidFill>
                  <a:srgbClr val="DDE6F0"/>
                </a:solidFill>
                <a:latin typeface="Segoe UI"/>
              </a:rPr>
              <a:t>  —  Parth Sharma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FFFFFF"/>
                </a:solidFill>
                <a:latin typeface="Segoe UI"/>
              </a:rPr>
              <a:t>23BRS1107</a:t>
            </a:r>
            <a:r>
              <a:rPr sz="1300">
                <a:solidFill>
                  <a:srgbClr val="DDE6F0"/>
                </a:solidFill>
                <a:latin typeface="Segoe UI"/>
              </a:rPr>
              <a:t>  —  Bhupender Singh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60604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A1D22"/>
                </a:solidFill>
                <a:latin typeface="Georgia"/>
              </a:rPr>
              <a:t>Faculty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035808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A4F58"/>
                </a:solidFill>
                <a:latin typeface="Segoe UI"/>
              </a:rPr>
              <a:t>Name: Manmohan Sharma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374136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A4F58"/>
                </a:solidFill>
                <a:latin typeface="Segoe UI"/>
              </a:rPr>
              <a:t>ERP ID: 53622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712463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A4F58"/>
                </a:solidFill>
                <a:latin typeface="Segoe UI"/>
              </a:rPr>
              <a:t>School: SENSE (School of Electronics and Communication Engineering)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412394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A4F58"/>
                </a:solidFill>
                <a:latin typeface="Segoe UI"/>
              </a:rPr>
              <a:t>Signature: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78040" y="4032504"/>
            <a:ext cx="3566160" cy="502920"/>
          </a:xfrm>
          <a:prstGeom prst="rect">
            <a:avLst/>
          </a:prstGeom>
          <a:noFill/>
          <a:ln w="12700">
            <a:solidFill>
              <a:srgbClr val="8A8F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416966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8A8F98"/>
                </a:solidFill>
                <a:latin typeface="Segoe UI"/>
              </a:rPr>
              <a:t>insert scanned signature image here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989320"/>
            <a:ext cx="11365992" cy="502920"/>
          </a:xfrm>
          <a:prstGeom prst="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/>
          <a:lstStyle/>
          <a:p>
            <a:pPr algn="ctr"/>
            <a:r>
              <a:rPr sz="1200">
                <a:solidFill>
                  <a:srgbClr val="A9333F"/>
                </a:solidFill>
                <a:latin typeface="Georgia"/>
              </a:rPr>
              <a:t>⚑  B.Tech Project – I | First Review | School of Computer Science and Engineering | VIT Chennai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D3B66"/>
                </a:solidFill>
                <a:latin typeface="Segoe UI"/>
              </a:rPr>
              <a:t>01 · PROBLEM &amp;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A1D22"/>
                </a:solidFill>
                <a:latin typeface="Georgia"/>
              </a:rPr>
              <a:t>Retrieval fixes hallucination — prompting still decides how well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225296"/>
            <a:ext cx="11064240" cy="0"/>
          </a:xfrm>
          <a:prstGeom prst="line">
            <a:avLst/>
          </a:prstGeom>
          <a:ln w="1270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920240"/>
            <a:ext cx="63093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1A1D22"/>
                </a:solidFill>
                <a:latin typeface="Segoe UI"/>
              </a:rPr>
              <a:t>—  </a:t>
            </a:r>
            <a:r>
              <a:rPr sz="1450" b="1">
                <a:solidFill>
                  <a:srgbClr val="1A1D22"/>
                </a:solidFill>
                <a:latin typeface="Segoe UI"/>
              </a:rPr>
              <a:t>Background: </a:t>
            </a:r>
            <a:r>
              <a:rPr sz="1450">
                <a:solidFill>
                  <a:srgbClr val="1A1D22"/>
                </a:solidFill>
                <a:latin typeface="Segoe UI"/>
              </a:rPr>
              <a:t>Large Language Models generate fluent but sometimes fabricated text when answering from parametric knowledge alone (Ji et al., 2023).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1A1D22"/>
                </a:solidFill>
                <a:latin typeface="Segoe UI"/>
              </a:rPr>
              <a:t>—  </a:t>
            </a:r>
            <a:r>
              <a:rPr sz="1450" b="1">
                <a:solidFill>
                  <a:srgbClr val="1A1D22"/>
                </a:solidFill>
                <a:latin typeface="Segoe UI"/>
              </a:rPr>
              <a:t>Retrieval-Augmented Generation </a:t>
            </a:r>
            <a:r>
              <a:rPr sz="1450">
                <a:solidFill>
                  <a:srgbClr val="1A1D22"/>
                </a:solidFill>
                <a:latin typeface="Segoe UI"/>
              </a:rPr>
              <a:t>(Lewis et al., 2020) mitigates this by grounding generation in retrieved documents, and is now the dominant approach for building trustworthy LLM applications.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1A1D22"/>
                </a:solidFill>
                <a:latin typeface="Segoe UI"/>
              </a:rPr>
              <a:t>—  </a:t>
            </a:r>
            <a:r>
              <a:rPr sz="1450" b="1">
                <a:solidFill>
                  <a:srgbClr val="1A1D22"/>
                </a:solidFill>
                <a:latin typeface="Segoe UI"/>
              </a:rPr>
              <a:t>The open problem: </a:t>
            </a:r>
            <a:r>
              <a:rPr sz="1450">
                <a:solidFill>
                  <a:srgbClr val="1A1D22"/>
                </a:solidFill>
                <a:latin typeface="Segoe UI"/>
              </a:rPr>
              <a:t>answer quality inside a RAG pipeline still depends heavily on how the retrieved context is handed to the LLM — the prompting strategy — not just on retrieval quality itself.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1A1D22"/>
                </a:solidFill>
                <a:latin typeface="Segoe UI"/>
              </a:rPr>
              <a:t>—  </a:t>
            </a:r>
            <a:r>
              <a:rPr sz="1450" b="1">
                <a:solidFill>
                  <a:srgbClr val="1A1D22"/>
                </a:solidFill>
                <a:latin typeface="Segoe UI"/>
              </a:rPr>
              <a:t>The gap: </a:t>
            </a:r>
            <a:r>
              <a:rPr sz="1450">
                <a:solidFill>
                  <a:srgbClr val="1A1D22"/>
                </a:solidFill>
                <a:latin typeface="Segoe UI"/>
              </a:rPr>
              <a:t>no controlled study isolates prompting strategy as the sole variable while holding chunking, embeddings, retrieval, and the base model fixed.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78040" y="1920240"/>
            <a:ext cx="4480560" cy="3931920"/>
          </a:xfrm>
          <a:prstGeom prst="rect">
            <a:avLst/>
          </a:prstGeom>
          <a:solidFill>
            <a:srgbClr val="F5F7FA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92608" tIns="256032" rIns="256032"/>
          <a:lstStyle/>
          <a:p>
            <a:pPr algn="ctr"/>
            <a:r>
              <a:rPr b="1" sz="1400">
                <a:solidFill>
                  <a:srgbClr val="0D3B66"/>
                </a:solidFill>
                <a:latin typeface="Segoe UI"/>
              </a:rPr>
              <a:t>Problem statement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1A1D22"/>
                </a:solidFill>
                <a:latin typeface="Segoe UI"/>
              </a:rPr>
              <a:t>Systematically benchmark four prompting strategies — Zero-shot, Few-shot, Chain-of-Thought, and Structured Output — on an identical RAG pipeline, isolating prompt design as the only variable, to identify the most reliable, grounded approach for production RAG systems.</a:t>
            </a:r>
          </a:p>
          <a:p>
            <a:pPr>
              <a:spcBef>
                <a:spcPts val="1600"/>
              </a:spcBef>
            </a:pPr>
            <a:r>
              <a:rPr sz="1150" i="1">
                <a:solidFill>
                  <a:srgbClr val="8A8F98"/>
                </a:solidFill>
                <a:latin typeface="Segoe UI"/>
              </a:rPr>
              <a:t>Domain: AI · LLMs · RAG · NLP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8288" bIns="0"/>
          <a:lstStyle/>
          <a:p>
            <a:pPr algn="l"/>
            <a:r>
              <a:rPr sz="1050">
                <a:solidFill>
                  <a:srgbClr val="A9333F"/>
                </a:solidFill>
                <a:latin typeface="Georgia"/>
              </a:rPr>
              <a:t>⚑  B.Tech Project – I | First Review | School of Computer Science and Engineering | VIT Chennai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82512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333F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D3B66"/>
                </a:solidFill>
                <a:latin typeface="Segoe UI"/>
              </a:rPr>
              <a:t>02 · 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A1D22"/>
                </a:solidFill>
                <a:latin typeface="Georgia"/>
              </a:rPr>
              <a:t>Ten references spanning RAG, prompting, and hallucination evaluation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225296"/>
            <a:ext cx="11064240" cy="0"/>
          </a:xfrm>
          <a:prstGeom prst="line">
            <a:avLst/>
          </a:prstGeom>
          <a:ln w="1270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74519"/>
          <a:ext cx="110642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383280"/>
                <a:gridCol w="7223760"/>
              </a:tblGrid>
              <a:tr h="36160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109728"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Reference</a:t>
                      </a:r>
                    </a:p>
                  </a:txBody>
                  <a:tcPr anchor="ctr" marL="109728"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Key Contribution</a:t>
                      </a:r>
                    </a:p>
                  </a:txBody>
                  <a:tcPr anchor="ctr" marL="109728">
                    <a:solidFill>
                      <a:srgbClr val="0D3B66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D22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Lewis et al. (2020, NeurIPS)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Introduced Retrieval-Augmented Generation (RAG)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D22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Brown et al. (2020, NeurIPS)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GPT-3; established few-shot in-context learning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D22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Shuster et al. (2021, EMNLP Findings)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Retrieval augmentation reduces hallucination in dialogue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D22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Wei et al. (2022, NeurIPS)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Chain-of-Thought prompting improves multi-step reasoning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D22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Kojima et al. (2022, NeurIPS)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Zero-shot CoT via “Let’s think step by step”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D22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Liu et al. (2023, ACM Comput. Surv.)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Systematic survey of prompting methods in NLP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D22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Ji et al. (2023, ACM Comput. Surv.)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Survey of hallucination in natural language generation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D22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Gao et al. (2023, arXiv survey)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Survey of RAG techniques for large language models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D22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Es et al. (2024, EACL)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RAGAS: reference-free evaluation metrics for RAG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6160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D22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Niu et al. (2024, ACL)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F58"/>
                          </a:solidFill>
                          <a:latin typeface="Segoe UI"/>
                        </a:rPr>
                        <a:t>RAGTruth: hallucination corpus used as this project’s dataset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8288" bIns="0"/>
          <a:lstStyle/>
          <a:p>
            <a:pPr algn="l"/>
            <a:r>
              <a:rPr sz="1050">
                <a:solidFill>
                  <a:srgbClr val="A9333F"/>
                </a:solidFill>
                <a:latin typeface="Georgia"/>
              </a:rPr>
              <a:t>⚑  B.Tech Project – I | First Review | School of Computer Science and Engineering | VIT Chennai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82512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333F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D3B66"/>
                </a:solidFill>
                <a:latin typeface="Segoe UI"/>
              </a:rPr>
              <a:t>03 · EXISTING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A1D22"/>
                </a:solidFill>
                <a:latin typeface="Georgia"/>
              </a:rPr>
              <a:t>What's already out there, and where it falls short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225296"/>
            <a:ext cx="11064240" cy="0"/>
          </a:xfrm>
          <a:prstGeom prst="line">
            <a:avLst/>
          </a:prstGeom>
          <a:ln w="1270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74519"/>
          <a:ext cx="11064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406640"/>
              </a:tblGrid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Existing Approach</a:t>
                      </a:r>
                    </a:p>
                  </a:txBody>
                  <a:tcPr anchor="ctr" marL="109728"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Limitation</a:t>
                      </a:r>
                    </a:p>
                  </a:txBody>
                  <a:tcPr anchor="ctr" marL="109728">
                    <a:solidFill>
                      <a:srgbClr val="0D3B66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2"/>
                          </a:solidFill>
                          <a:latin typeface="Segoe UI"/>
                        </a:rPr>
                        <a:t>Standard RAG pipelines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A4F58"/>
                          </a:solidFill>
                          <a:latin typeface="Segoe UI"/>
                        </a:rPr>
                        <a:t>Retrieval reduces hallucination, but prompt design is treated as an implementation detail, not studied systematically.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2"/>
                          </a:solidFill>
                          <a:latin typeface="Segoe UI"/>
                        </a:rPr>
                        <a:t>Few-shot / CoT prompting research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A4F58"/>
                          </a:solidFill>
                          <a:latin typeface="Segoe UI"/>
                        </a:rPr>
                        <a:t>Extensively studied for general reasoning tasks; rarely evaluated inside a RAG pipeline with retrieval held constant.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2"/>
                          </a:solidFill>
                          <a:latin typeface="Segoe UI"/>
                        </a:rPr>
                        <a:t>RAG evaluation frameworks (RAGAS)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A4F58"/>
                          </a:solidFill>
                          <a:latin typeface="Segoe UI"/>
                        </a:rPr>
                        <a:t>Provide faithfulness / relevancy metrics, but don't benchmark prompting strategies against each other.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2"/>
                          </a:solidFill>
                          <a:latin typeface="Segoe UI"/>
                        </a:rPr>
                        <a:t>Hallucination corpora (RAGTruth)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A4F58"/>
                          </a:solidFill>
                          <a:latin typeface="Segoe UI"/>
                        </a:rPr>
                        <a:t>Rich human-labeled hallucination data — but labels apply to the original models' answers, not a controlled ablation.</a:t>
                      </a:r>
                    </a:p>
                  </a:txBody>
                  <a:tcPr anchor="ctr" marL="109728" marT="27432" marB="27432">
                    <a:solidFill>
                      <a:srgbClr val="F7F9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2"/>
                          </a:solidFill>
                          <a:latin typeface="Segoe UI"/>
                        </a:rPr>
                        <a:t>Production RAG systems (industry)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A4F58"/>
                          </a:solidFill>
                          <a:latin typeface="Segoe UI"/>
                        </a:rPr>
                        <a:t>Prompting strategy is usually chosen ad hoc, without a systematic accuracy-vs-hallucination-vs-cost comparison.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93776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46304" rIns="274320" wrap="square"/>
          <a:lstStyle/>
          <a:p>
            <a:pPr algn="ctr"/>
            <a:r>
              <a:rPr b="1" sz="1300">
                <a:solidFill>
                  <a:srgbClr val="A9333F"/>
                </a:solidFill>
                <a:latin typeface="Segoe UI"/>
              </a:rPr>
              <a:t>The gap this project addresses:  </a:t>
            </a:r>
            <a:r>
              <a:rPr sz="1300">
                <a:solidFill>
                  <a:srgbClr val="6B242E"/>
                </a:solidFill>
                <a:latin typeface="Segoe UI"/>
              </a:rPr>
              <a:t>No existing work isolates prompting strategy as the sole variable in a RAG pipeline while holding retrieval, embeddings, and the base model fixed.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8288" bIns="0"/>
          <a:lstStyle/>
          <a:p>
            <a:pPr algn="l"/>
            <a:r>
              <a:rPr sz="1050">
                <a:solidFill>
                  <a:srgbClr val="A9333F"/>
                </a:solidFill>
                <a:latin typeface="Georgia"/>
              </a:rPr>
              <a:t>⚑  B.Tech Project – I | First Review | School of Computer Science and Engineering | VIT Chennai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82512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333F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D3B66"/>
                </a:solidFill>
                <a:latin typeface="Segoe UI"/>
              </a:rPr>
              <a:t>04 ·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A1D22"/>
                </a:solidFill>
                <a:latin typeface="Georgia"/>
              </a:rPr>
              <a:t>One fixed pipeline, four prompting strategies, controlled comparison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225296"/>
            <a:ext cx="11064240" cy="0"/>
          </a:xfrm>
          <a:prstGeom prst="line">
            <a:avLst/>
          </a:prstGeom>
          <a:ln w="1270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920240"/>
            <a:ext cx="6309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1">
                <a:solidFill>
                  <a:srgbClr val="1A1D22"/>
                </a:solidFill>
                <a:latin typeface="Segoe UI"/>
              </a:rPr>
              <a:t>—  </a:t>
            </a:r>
            <a:r>
              <a:rPr sz="1400" b="1">
                <a:solidFill>
                  <a:srgbClr val="1A1D22"/>
                </a:solidFill>
                <a:latin typeface="Segoe UI"/>
              </a:rPr>
              <a:t>Fix everything except the prompt: </a:t>
            </a:r>
            <a:r>
              <a:rPr sz="1400">
                <a:solidFill>
                  <a:srgbClr val="1A1D22"/>
                </a:solidFill>
                <a:latin typeface="Segoe UI"/>
              </a:rPr>
              <a:t>chunking, embeddings, vector store, top-k retrieval, base LLM, and temperature are held identical across every strategy.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1">
                <a:solidFill>
                  <a:srgbClr val="1A1D22"/>
                </a:solidFill>
                <a:latin typeface="Segoe UI"/>
              </a:rPr>
              <a:t>—  </a:t>
            </a:r>
            <a:r>
              <a:rPr sz="1400" b="1">
                <a:solidFill>
                  <a:srgbClr val="1A1D22"/>
                </a:solidFill>
                <a:latin typeface="Segoe UI"/>
              </a:rPr>
              <a:t>Vary only the prompting strategy: </a:t>
            </a:r>
            <a:r>
              <a:rPr sz="1400">
                <a:solidFill>
                  <a:srgbClr val="1A1D22"/>
                </a:solidFill>
                <a:latin typeface="Segoe UI"/>
              </a:rPr>
              <a:t>Zero-shot, Few-shot, Chain-of-Thought, and Structured Output, each implemented as an independent LangChain LCEL chain.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1">
                <a:solidFill>
                  <a:srgbClr val="1A1D22"/>
                </a:solidFill>
                <a:latin typeface="Segoe UI"/>
              </a:rPr>
              <a:t>—  </a:t>
            </a:r>
            <a:r>
              <a:rPr sz="1400" b="1">
                <a:solidFill>
                  <a:srgbClr val="1A1D22"/>
                </a:solidFill>
                <a:latin typeface="Segoe UI"/>
              </a:rPr>
              <a:t>Grade with a validated framework: </a:t>
            </a:r>
            <a:r>
              <a:rPr sz="1400">
                <a:solidFill>
                  <a:srgbClr val="1A1D22"/>
                </a:solidFill>
                <a:latin typeface="Segoe UI"/>
              </a:rPr>
              <a:t>RAGAS (Faithfulness, Answer Relevancy) plus a custom LLM judge calibrated against RAGTruth's own human hallucination labels.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920240"/>
            <a:ext cx="4480560" cy="1874519"/>
          </a:xfrm>
          <a:prstGeom prst="roundRect">
            <a:avLst>
              <a:gd name="adj" fmla="val 6000"/>
            </a:avLst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64592" rIns="182880" wrap="square"/>
          <a:lstStyle/>
          <a:p>
            <a:pPr algn="ctr"/>
            <a:r>
              <a:rPr b="1" sz="1300">
                <a:solidFill>
                  <a:srgbClr val="1E7A4C"/>
                </a:solidFill>
                <a:latin typeface="Segoe UI"/>
              </a:rPr>
              <a:t>In scope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14402A"/>
                </a:solidFill>
                <a:latin typeface="Segoe UI"/>
              </a:rPr>
              <a:t>✓  RAGTruth QA subset (Hugging Face)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14402A"/>
                </a:solidFill>
                <a:latin typeface="Segoe UI"/>
              </a:rPr>
              <a:t>✓  4 prompting strategies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14402A"/>
                </a:solidFill>
                <a:latin typeface="Segoe UI"/>
              </a:rPr>
              <a:t>✓  ChromaDB + text-embedding-3-small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14402A"/>
                </a:solidFill>
                <a:latin typeface="Segoe UI"/>
              </a:rPr>
              <a:t>✓  gpt-4o-mini generation &amp; judging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14402A"/>
                </a:solidFill>
                <a:latin typeface="Segoe UI"/>
              </a:rPr>
              <a:t>✓  RAGAS + custom hallucination judge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3886200"/>
            <a:ext cx="4480560" cy="1874519"/>
          </a:xfrm>
          <a:prstGeom prst="roundRect">
            <a:avLst>
              <a:gd name="adj" fmla="val 6000"/>
            </a:avLst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64592" rIns="182880" wrap="square"/>
          <a:lstStyle/>
          <a:p>
            <a:pPr algn="ctr"/>
            <a:r>
              <a:rPr b="1" sz="1300">
                <a:solidFill>
                  <a:srgbClr val="5A5E66"/>
                </a:solidFill>
                <a:latin typeface="Segoe UI"/>
              </a:rPr>
              <a:t>Out of scope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A5E66"/>
                </a:solidFill>
                <a:latin typeface="Segoe UI"/>
              </a:rPr>
              <a:t>✗  Other embedding models / vector DBs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A5E66"/>
                </a:solidFill>
                <a:latin typeface="Segoe UI"/>
              </a:rPr>
              <a:t>✗  Other LLM providers / open-weight models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A5E66"/>
                </a:solidFill>
                <a:latin typeface="Segoe UI"/>
              </a:rPr>
              <a:t>✗  Fine-tuning or RLHF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A5E66"/>
                </a:solidFill>
                <a:latin typeface="Segoe UI"/>
              </a:rPr>
              <a:t>✗  Datasets beyond RAGTruth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A5E66"/>
                </a:solidFill>
                <a:latin typeface="Segoe UI"/>
              </a:rPr>
              <a:t>✗  Multi-turn conversation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6309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1">
                <a:solidFill>
                  <a:srgbClr val="8A8F98"/>
                </a:solidFill>
                <a:latin typeface="Segoe UI"/>
              </a:rPr>
              <a:t>Methodology in detail — architecture, control-variable table, and framework validation — is covered on the following slides.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8288" bIns="0"/>
          <a:lstStyle/>
          <a:p>
            <a:pPr algn="l"/>
            <a:r>
              <a:rPr sz="1050">
                <a:solidFill>
                  <a:srgbClr val="A9333F"/>
                </a:solidFill>
                <a:latin typeface="Georgia"/>
              </a:rPr>
              <a:t>⚑  B.Tech Project – I | First Review | School of Computer Science and Engineering | VIT Chennai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82512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333F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D3B66"/>
                </a:solidFill>
                <a:latin typeface="Segoe UI"/>
              </a:rPr>
              <a:t>05 ·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A1D22"/>
                </a:solidFill>
                <a:latin typeface="Georgia"/>
              </a:rPr>
              <a:t>System architecture — fixed backbone, one variable stage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225296"/>
            <a:ext cx="11064240" cy="0"/>
          </a:xfrm>
          <a:prstGeom prst="line">
            <a:avLst/>
          </a:prstGeom>
          <a:ln w="1270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20039" y="1531619"/>
            <a:ext cx="2468880" cy="50292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587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50" b="0">
                <a:solidFill>
                  <a:srgbClr val="1A1D22"/>
                </a:solidFill>
                <a:latin typeface="Segoe UI"/>
              </a:rPr>
              <a:t>RAGTruth QA subset</a:t>
            </a:r>
          </a:p>
          <a:p>
            <a:pPr algn="ctr"/>
            <a:r>
              <a:rPr sz="950">
                <a:solidFill>
                  <a:srgbClr val="4A4F58"/>
                </a:solidFill>
                <a:latin typeface="Segoe UI"/>
              </a:rPr>
              <a:t>5,934 rows · Hugging Face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54480" y="2034540"/>
            <a:ext cx="0" cy="379476"/>
          </a:xfrm>
          <a:prstGeom prst="line">
            <a:avLst/>
          </a:prstGeom>
          <a:ln w="15875">
            <a:solidFill>
              <a:srgbClr val="4A4F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2148840"/>
            <a:ext cx="8778240" cy="105156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0D3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D3B66"/>
                </a:solidFill>
                <a:latin typeface="Segoe UI"/>
              </a:rPr>
              <a:t>FIXED — identical for every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41448"/>
            <a:ext cx="15544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A1D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200" b="1">
                <a:solidFill>
                  <a:srgbClr val="1A1D22"/>
                </a:solidFill>
                <a:latin typeface="Segoe UI"/>
              </a:rPr>
              <a:t>Chunk</a:t>
            </a:r>
          </a:p>
          <a:p>
            <a:pPr algn="ctr"/>
            <a:r>
              <a:rPr sz="950">
                <a:solidFill>
                  <a:srgbClr val="4A4F58"/>
                </a:solidFill>
                <a:latin typeface="Segoe UI"/>
              </a:rPr>
              <a:t>500 / 50 overlap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9232" y="2441448"/>
            <a:ext cx="15544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A1D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200" b="1">
                <a:solidFill>
                  <a:srgbClr val="1A1D22"/>
                </a:solidFill>
                <a:latin typeface="Segoe UI"/>
              </a:rPr>
              <a:t>Embed</a:t>
            </a:r>
          </a:p>
          <a:p>
            <a:pPr algn="ctr"/>
            <a:r>
              <a:rPr sz="950">
                <a:solidFill>
                  <a:srgbClr val="4A4F58"/>
                </a:solidFill>
                <a:latin typeface="Segoe UI"/>
              </a:rPr>
              <a:t>text-embedding-3-small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2441448"/>
            <a:ext cx="15544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A1D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200" b="1">
                <a:solidFill>
                  <a:srgbClr val="1A1D22"/>
                </a:solidFill>
                <a:latin typeface="Segoe UI"/>
              </a:rPr>
              <a:t>Chroma DB</a:t>
            </a:r>
          </a:p>
          <a:p>
            <a:pPr algn="ctr"/>
            <a:r>
              <a:rPr sz="950">
                <a:solidFill>
                  <a:srgbClr val="4A4F58"/>
                </a:solidFill>
                <a:latin typeface="Segoe UI"/>
              </a:rPr>
              <a:t>vector store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34072" y="2441448"/>
            <a:ext cx="15544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A1D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200" b="1">
                <a:solidFill>
                  <a:srgbClr val="1A1D22"/>
                </a:solidFill>
                <a:latin typeface="Segoe UI"/>
              </a:rPr>
              <a:t>Retriever</a:t>
            </a:r>
          </a:p>
          <a:p>
            <a:pPr algn="ctr"/>
            <a:r>
              <a:rPr sz="950">
                <a:solidFill>
                  <a:srgbClr val="4A4F58"/>
                </a:solidFill>
                <a:latin typeface="Segoe UI"/>
              </a:rPr>
              <a:t>top-k = 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31720" y="2724912"/>
            <a:ext cx="667512" cy="0"/>
          </a:xfrm>
          <a:prstGeom prst="line">
            <a:avLst/>
          </a:prstGeom>
          <a:ln w="15875">
            <a:solidFill>
              <a:srgbClr val="4A4F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53712" y="2724912"/>
            <a:ext cx="676656" cy="0"/>
          </a:xfrm>
          <a:prstGeom prst="line">
            <a:avLst/>
          </a:prstGeom>
          <a:ln w="15875">
            <a:solidFill>
              <a:srgbClr val="4A4F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784848" y="2724912"/>
            <a:ext cx="649224" cy="0"/>
          </a:xfrm>
          <a:prstGeom prst="line">
            <a:avLst/>
          </a:prstGeom>
          <a:ln w="15875">
            <a:solidFill>
              <a:srgbClr val="4A4F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211312" y="3008376"/>
            <a:ext cx="0" cy="301752"/>
          </a:xfrm>
          <a:prstGeom prst="line">
            <a:avLst/>
          </a:prstGeom>
          <a:ln w="15875">
            <a:solidFill>
              <a:srgbClr val="4A4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554480" y="3310128"/>
            <a:ext cx="6656832" cy="0"/>
          </a:xfrm>
          <a:prstGeom prst="line">
            <a:avLst/>
          </a:prstGeom>
          <a:ln w="15875">
            <a:solidFill>
              <a:srgbClr val="4A4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554480" y="3310128"/>
            <a:ext cx="0" cy="448056"/>
          </a:xfrm>
          <a:prstGeom prst="line">
            <a:avLst/>
          </a:prstGeom>
          <a:ln w="15875">
            <a:solidFill>
              <a:srgbClr val="4A4F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776472" y="3310128"/>
            <a:ext cx="0" cy="448056"/>
          </a:xfrm>
          <a:prstGeom prst="line">
            <a:avLst/>
          </a:prstGeom>
          <a:ln w="15875">
            <a:solidFill>
              <a:srgbClr val="4A4F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07608" y="3310128"/>
            <a:ext cx="0" cy="448056"/>
          </a:xfrm>
          <a:prstGeom prst="line">
            <a:avLst/>
          </a:prstGeom>
          <a:ln w="15875">
            <a:solidFill>
              <a:srgbClr val="4A4F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11312" y="3310128"/>
            <a:ext cx="0" cy="448056"/>
          </a:xfrm>
          <a:prstGeom prst="line">
            <a:avLst/>
          </a:prstGeom>
          <a:ln w="15875">
            <a:solidFill>
              <a:srgbClr val="4A4F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3520440"/>
            <a:ext cx="8778240" cy="96012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A9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56616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A9333F"/>
                </a:solidFill>
                <a:latin typeface="Segoe UI"/>
              </a:rPr>
              <a:t>THE ONE VARIABLE — prompt strategy only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758184"/>
            <a:ext cx="15544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50" b="1">
                <a:solidFill>
                  <a:srgbClr val="2A78D6"/>
                </a:solidFill>
                <a:latin typeface="Segoe UI"/>
              </a:rPr>
              <a:t>Zero-shot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99232" y="3758184"/>
            <a:ext cx="15544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50" b="1">
                <a:solidFill>
                  <a:srgbClr val="EB6834"/>
                </a:solidFill>
                <a:latin typeface="Segoe UI"/>
              </a:rPr>
              <a:t>Few-shot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30368" y="3758184"/>
            <a:ext cx="15544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50" b="1">
                <a:solidFill>
                  <a:srgbClr val="1BAF7A"/>
                </a:solidFill>
                <a:latin typeface="Segoe UI"/>
              </a:rPr>
              <a:t>Chain-of-Thought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34072" y="3758184"/>
            <a:ext cx="15544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A3A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50" b="1">
                <a:solidFill>
                  <a:srgbClr val="4A3AA7"/>
                </a:solidFill>
                <a:latin typeface="Segoe UI"/>
              </a:rPr>
              <a:t>Structured Output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554480" y="4325112"/>
            <a:ext cx="0" cy="246888"/>
          </a:xfrm>
          <a:prstGeom prst="line">
            <a:avLst/>
          </a:prstGeom>
          <a:ln w="15875">
            <a:solidFill>
              <a:srgbClr val="4A4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776472" y="4325112"/>
            <a:ext cx="0" cy="246888"/>
          </a:xfrm>
          <a:prstGeom prst="line">
            <a:avLst/>
          </a:prstGeom>
          <a:ln w="15875">
            <a:solidFill>
              <a:srgbClr val="4A4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07608" y="4325112"/>
            <a:ext cx="0" cy="246888"/>
          </a:xfrm>
          <a:prstGeom prst="line">
            <a:avLst/>
          </a:prstGeom>
          <a:ln w="15875">
            <a:solidFill>
              <a:srgbClr val="4A4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211312" y="4325112"/>
            <a:ext cx="0" cy="246888"/>
          </a:xfrm>
          <a:prstGeom prst="line">
            <a:avLst/>
          </a:prstGeom>
          <a:ln w="15875">
            <a:solidFill>
              <a:srgbClr val="4A4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554480" y="4572000"/>
            <a:ext cx="6656832" cy="0"/>
          </a:xfrm>
          <a:prstGeom prst="line">
            <a:avLst/>
          </a:prstGeom>
          <a:ln w="15875">
            <a:solidFill>
              <a:srgbClr val="4A4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882896" y="4572000"/>
            <a:ext cx="0" cy="114300"/>
          </a:xfrm>
          <a:prstGeom prst="line">
            <a:avLst/>
          </a:prstGeom>
          <a:ln w="15875">
            <a:solidFill>
              <a:srgbClr val="4A4F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419856" y="4686300"/>
            <a:ext cx="2926080" cy="502920"/>
          </a:xfrm>
          <a:prstGeom prst="roundRect">
            <a:avLst>
              <a:gd name="adj" fmla="val 12000"/>
            </a:avLst>
          </a:prstGeom>
          <a:solidFill>
            <a:srgbClr val="0D3B66"/>
          </a:solidFill>
          <a:ln w="15875">
            <a:solidFill>
              <a:srgbClr val="0D3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gpt-4o-mini · T = 0.0</a:t>
            </a:r>
          </a:p>
          <a:p>
            <a:pPr algn="ctr"/>
            <a:r>
              <a:rPr sz="950">
                <a:solidFill>
                  <a:srgbClr val="4A4F58"/>
                </a:solidFill>
                <a:latin typeface="Segoe UI"/>
              </a:rPr>
              <a:t>shared generation call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882896" y="5189220"/>
            <a:ext cx="0" cy="205740"/>
          </a:xfrm>
          <a:prstGeom prst="line">
            <a:avLst/>
          </a:prstGeom>
          <a:ln w="15875">
            <a:solidFill>
              <a:srgbClr val="4A4F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236976" y="5463540"/>
            <a:ext cx="3291840" cy="50292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587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100" b="1">
                <a:solidFill>
                  <a:srgbClr val="1A1D22"/>
                </a:solidFill>
                <a:latin typeface="Segoe UI"/>
              </a:rPr>
              <a:t>RAGAS + LLM Hallucination Judge</a:t>
            </a:r>
          </a:p>
          <a:p>
            <a:pPr algn="ctr"/>
            <a:r>
              <a:rPr sz="950">
                <a:solidFill>
                  <a:srgbClr val="4A4F58"/>
                </a:solidFill>
                <a:latin typeface="Segoe UI"/>
              </a:rPr>
              <a:t>calibrated against RAGTruth labels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64040" y="3429000"/>
            <a:ext cx="2194560" cy="25603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64592" rIns="146304" wrap="square"/>
          <a:lstStyle/>
          <a:p>
            <a:pPr algn="ctr"/>
            <a:r>
              <a:rPr b="1" sz="1250">
                <a:solidFill>
                  <a:srgbClr val="0D3B66"/>
                </a:solidFill>
                <a:latin typeface="Segoe UI"/>
              </a:rPr>
              <a:t>Why this design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4A4F58"/>
                </a:solidFill>
                <a:latin typeface="Segoe UI"/>
              </a:rPr>
              <a:t>Retrieval is built once and reused, read-only, by all four strategies — so any measured difference can only come from the prompt.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8288" bIns="0"/>
          <a:lstStyle/>
          <a:p>
            <a:pPr algn="l"/>
            <a:r>
              <a:rPr sz="1050">
                <a:solidFill>
                  <a:srgbClr val="A9333F"/>
                </a:solidFill>
                <a:latin typeface="Georgia"/>
              </a:rPr>
              <a:t>⚑  B.Tech Project – I | First Review | School of Computer Science and Engineering | VIT Chennai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382512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333F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D3B66"/>
                </a:solidFill>
                <a:latin typeface="Segoe UI"/>
              </a:rPr>
              <a:t>05 ·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A1D22"/>
                </a:solidFill>
                <a:latin typeface="Georgia"/>
              </a:rPr>
              <a:t>What's fixed vs. what's tested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225296"/>
            <a:ext cx="11064240" cy="0"/>
          </a:xfrm>
          <a:prstGeom prst="line">
            <a:avLst/>
          </a:prstGeom>
          <a:ln w="1270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2024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949440"/>
                <a:gridCol w="1737360"/>
              </a:tblGrid>
              <a:tr h="51435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anchor="ctr"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Setting</a:t>
                      </a:r>
                    </a:p>
                  </a:txBody>
                  <a:tcPr anchor="ctr"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>
                    <a:solidFill>
                      <a:srgbClr val="0D3B66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2"/>
                          </a:solidFill>
                          <a:latin typeface="Segoe UI"/>
                        </a:rPr>
                        <a:t>Chunking</a:t>
                      </a:r>
                    </a:p>
                  </a:txBody>
                  <a:tcPr anchor="ctr"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A4F58"/>
                          </a:solidFill>
                          <a:latin typeface="Segoe UI"/>
                        </a:rPr>
                        <a:t>RecursiveCharacterTextSplitter · 500 chars / 50 overlap</a:t>
                      </a:r>
                    </a:p>
                  </a:txBody>
                  <a:tcPr anchor="ctr"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D3B66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anchor="ctr" marL="109728" marT="45720" marB="4572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2"/>
                          </a:solidFill>
                          <a:latin typeface="Segoe UI"/>
                        </a:rPr>
                        <a:t>Embeddings</a:t>
                      </a:r>
                    </a:p>
                  </a:txBody>
                  <a:tcPr anchor="ctr" marL="109728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A4F58"/>
                          </a:solidFill>
                          <a:latin typeface="Segoe UI"/>
                        </a:rPr>
                        <a:t>OpenAI text-embedding-3-small</a:t>
                      </a:r>
                    </a:p>
                  </a:txBody>
                  <a:tcPr anchor="ctr" marL="109728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D3B66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anchor="ctr" marL="109728" marT="45720" marB="45720">
                    <a:solidFill>
                      <a:srgbClr val="F7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2"/>
                          </a:solidFill>
                          <a:latin typeface="Segoe UI"/>
                        </a:rPr>
                        <a:t>Vector store</a:t>
                      </a:r>
                    </a:p>
                  </a:txBody>
                  <a:tcPr anchor="ctr"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A4F58"/>
                          </a:solidFill>
                          <a:latin typeface="Segoe UI"/>
                        </a:rPr>
                        <a:t>ChromaDB, persisted collection, built once</a:t>
                      </a:r>
                    </a:p>
                  </a:txBody>
                  <a:tcPr anchor="ctr"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D3B66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anchor="ctr" marL="109728" marT="45720" marB="4572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2"/>
                          </a:solidFill>
                          <a:latin typeface="Segoe UI"/>
                        </a:rPr>
                        <a:t>Retrieval</a:t>
                      </a:r>
                    </a:p>
                  </a:txBody>
                  <a:tcPr anchor="ctr" marL="109728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A4F58"/>
                          </a:solidFill>
                          <a:latin typeface="Segoe UI"/>
                        </a:rPr>
                        <a:t>top-k = 4, same retriever object reused</a:t>
                      </a:r>
                    </a:p>
                  </a:txBody>
                  <a:tcPr anchor="ctr" marL="109728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D3B66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anchor="ctr" marL="109728" marT="45720" marB="45720">
                    <a:solidFill>
                      <a:srgbClr val="F7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2"/>
                          </a:solidFill>
                          <a:latin typeface="Segoe UI"/>
                        </a:rPr>
                        <a:t>Generation model</a:t>
                      </a:r>
                    </a:p>
                  </a:txBody>
                  <a:tcPr anchor="ctr"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A4F58"/>
                          </a:solidFill>
                          <a:latin typeface="Segoe UI"/>
                        </a:rPr>
                        <a:t>gpt-4o-mini, temperature 0.0</a:t>
                      </a:r>
                    </a:p>
                  </a:txBody>
                  <a:tcPr anchor="ctr"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D3B66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anchor="ctr" marL="109728" marT="45720" marB="4572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2"/>
                          </a:solidFill>
                          <a:latin typeface="Segoe UI"/>
                        </a:rPr>
                        <a:t>Grading judge</a:t>
                      </a:r>
                    </a:p>
                  </a:txBody>
                  <a:tcPr anchor="ctr" marL="109728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A4F58"/>
                          </a:solidFill>
                          <a:latin typeface="Segoe UI"/>
                        </a:rPr>
                        <a:t>Same LLM judge &amp; taxonomy for every strategy</a:t>
                      </a:r>
                    </a:p>
                  </a:txBody>
                  <a:tcPr anchor="ctr" marL="109728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D3B66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anchor="ctr" marL="109728" marT="45720" marB="45720">
                    <a:solidFill>
                      <a:srgbClr val="F7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2"/>
                          </a:solidFill>
                          <a:latin typeface="Segoe UI"/>
                        </a:rPr>
                        <a:t>Prompt strategy</a:t>
                      </a:r>
                    </a:p>
                  </a:txBody>
                  <a:tcPr anchor="ctr"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A4F58"/>
                          </a:solidFill>
                          <a:latin typeface="Segoe UI"/>
                        </a:rPr>
                        <a:t>Zero-shot / Few-shot / Chain-of-Thought / Structured Output</a:t>
                      </a:r>
                    </a:p>
                  </a:txBody>
                  <a:tcPr anchor="ctr"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A9333F"/>
                          </a:solidFill>
                          <a:latin typeface="Segoe UI"/>
                        </a:rPr>
                        <a:t>Variable</a:t>
                      </a:r>
                    </a:p>
                  </a:txBody>
                  <a:tcPr anchor="ctr" marL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8288" bIns="0"/>
          <a:lstStyle/>
          <a:p>
            <a:pPr algn="l"/>
            <a:r>
              <a:rPr sz="1050">
                <a:solidFill>
                  <a:srgbClr val="A9333F"/>
                </a:solidFill>
                <a:latin typeface="Georgia"/>
              </a:rPr>
              <a:t>⚑  B.Tech Project – I | First Review | School of Computer Science and Engineering | VIT Chennai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82512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333F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D3B66"/>
                </a:solidFill>
                <a:latin typeface="Segoe UI"/>
              </a:rPr>
              <a:t>06 · WORK COMPLETED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A1D22"/>
                </a:solidFill>
                <a:latin typeface="Georgia"/>
              </a:rPr>
              <a:t>Approximately 50% — infrastructure and framework validated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225296"/>
            <a:ext cx="11064240" cy="0"/>
          </a:xfrm>
          <a:prstGeom prst="line">
            <a:avLst/>
          </a:prstGeom>
          <a:ln w="1270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1874519"/>
            <a:ext cx="5806440" cy="4251960"/>
          </a:xfrm>
          <a:prstGeom prst="roundRect">
            <a:avLst>
              <a:gd name="adj" fmla="val 5000"/>
            </a:avLst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29968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7A4C"/>
                </a:solidFill>
                <a:latin typeface="Segoe UI"/>
              </a:rPr>
              <a:t>COMPLETED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53949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E7A4C"/>
                </a:solidFill>
                <a:latin typeface="Segoe UI"/>
              </a:rPr>
              <a:t>✓  </a:t>
            </a:r>
            <a:r>
              <a:rPr sz="1250">
                <a:solidFill>
                  <a:srgbClr val="14402A"/>
                </a:solidFill>
                <a:latin typeface="Segoe UI"/>
              </a:rPr>
              <a:t>RAGTruth data pipeline — loading, QA-subset filtering, eval/calibration split, corpus construction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E7A4C"/>
                </a:solidFill>
                <a:latin typeface="Segoe UI"/>
              </a:rPr>
              <a:t>✓  </a:t>
            </a:r>
            <a:r>
              <a:rPr sz="1250">
                <a:solidFill>
                  <a:srgbClr val="14402A"/>
                </a:solidFill>
                <a:latin typeface="Segoe UI"/>
              </a:rPr>
              <a:t>Chunking → embedding → ChromaDB indexing, shared read-only across all strategies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E7A4C"/>
                </a:solidFill>
                <a:latin typeface="Segoe UI"/>
              </a:rPr>
              <a:t>✓  </a:t>
            </a:r>
            <a:r>
              <a:rPr sz="1250">
                <a:solidFill>
                  <a:srgbClr val="14402A"/>
                </a:solidFill>
                <a:latin typeface="Segoe UI"/>
              </a:rPr>
              <a:t>All 4 prompting strategy chains implemented in LangChain LCEL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E7A4C"/>
                </a:solidFill>
                <a:latin typeface="Segoe UI"/>
              </a:rPr>
              <a:t>✓  </a:t>
            </a:r>
            <a:r>
              <a:rPr sz="1250">
                <a:solidFill>
                  <a:srgbClr val="14402A"/>
                </a:solidFill>
                <a:latin typeface="Segoe UI"/>
              </a:rPr>
              <a:t>Structured Output strategy's Pydantic schema (verbatim quotes + groundedness flag)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E7A4C"/>
                </a:solidFill>
                <a:latin typeface="Segoe UI"/>
              </a:rPr>
              <a:t>✓  </a:t>
            </a:r>
            <a:r>
              <a:rPr sz="1250">
                <a:solidFill>
                  <a:srgbClr val="14402A"/>
                </a:solidFill>
                <a:latin typeface="Segoe UI"/>
              </a:rPr>
              <a:t>RAGAS integration (Faithfulness, Answer Relevancy)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E7A4C"/>
                </a:solidFill>
                <a:latin typeface="Segoe UI"/>
              </a:rPr>
              <a:t>✓  </a:t>
            </a:r>
            <a:r>
              <a:rPr sz="1250">
                <a:solidFill>
                  <a:srgbClr val="14402A"/>
                </a:solidFill>
                <a:latin typeface="Segoe UI"/>
              </a:rPr>
              <a:t>Custom LLM hallucination judge, calibrated against RAGTruth's human labels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E7A4C"/>
                </a:solidFill>
                <a:latin typeface="Segoe UI"/>
              </a:rPr>
              <a:t>✓  </a:t>
            </a:r>
            <a:r>
              <a:rPr sz="1250">
                <a:solidFill>
                  <a:srgbClr val="14402A"/>
                </a:solidFill>
                <a:latin typeface="Segoe UI"/>
              </a:rPr>
              <a:t>Interactive web dashboard — live pipeline run, progress, and charts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E7A4C"/>
                </a:solidFill>
                <a:latin typeface="Segoe UI"/>
              </a:rPr>
              <a:t>✓  </a:t>
            </a:r>
            <a:r>
              <a:rPr sz="1250">
                <a:solidFill>
                  <a:srgbClr val="14402A"/>
                </a:solidFill>
                <a:latin typeface="Segoe UI"/>
              </a:rPr>
              <a:t>Automated test suite — 14 tests, no API key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874519"/>
            <a:ext cx="5120640" cy="4251960"/>
          </a:xfrm>
          <a:prstGeom prst="roundRect">
            <a:avLst>
              <a:gd name="adj" fmla="val 5000"/>
            </a:avLst>
          </a:prstGeom>
          <a:solidFill>
            <a:srgbClr val="FBF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029968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A6A12"/>
                </a:solidFill>
                <a:latin typeface="Segoe UI"/>
              </a:rPr>
              <a:t>REMAINING FOR NEXT REVIEWS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395728"/>
            <a:ext cx="46634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1">
                <a:solidFill>
                  <a:srgbClr val="9A6A12"/>
                </a:solidFill>
                <a:latin typeface="Segoe UI"/>
              </a:rPr>
              <a:t>○  </a:t>
            </a:r>
            <a:r>
              <a:rPr sz="1250">
                <a:solidFill>
                  <a:srgbClr val="5A4008"/>
                </a:solidFill>
                <a:latin typeface="Segoe UI"/>
              </a:rPr>
              <a:t>Full-scale benchmark run across all 4 strategies on the complete eval sample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1">
                <a:solidFill>
                  <a:srgbClr val="9A6A12"/>
                </a:solidFill>
                <a:latin typeface="Segoe UI"/>
              </a:rPr>
              <a:t>○  </a:t>
            </a:r>
            <a:r>
              <a:rPr sz="1250">
                <a:solidFill>
                  <a:srgbClr val="5A4008"/>
                </a:solidFill>
                <a:latin typeface="Segoe UI"/>
              </a:rPr>
              <a:t>Statistical comparison of accuracy / hallucination rate / faithfulness across strategies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1">
                <a:solidFill>
                  <a:srgbClr val="9A6A12"/>
                </a:solidFill>
                <a:latin typeface="Segoe UI"/>
              </a:rPr>
              <a:t>○  </a:t>
            </a:r>
            <a:r>
              <a:rPr sz="1250">
                <a:solidFill>
                  <a:srgbClr val="5A4008"/>
                </a:solidFill>
                <a:latin typeface="Segoe UI"/>
              </a:rPr>
              <a:t>Cost &amp; latency trade-off analysis at scale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1">
                <a:solidFill>
                  <a:srgbClr val="9A6A12"/>
                </a:solidFill>
                <a:latin typeface="Segoe UI"/>
              </a:rPr>
              <a:t>○  </a:t>
            </a:r>
            <a:r>
              <a:rPr sz="1250">
                <a:solidFill>
                  <a:srgbClr val="5A4008"/>
                </a:solidFill>
                <a:latin typeface="Segoe UI"/>
              </a:rPr>
              <a:t>Final recommendations: which strategy for which production scenario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8288" bIns="0"/>
          <a:lstStyle/>
          <a:p>
            <a:pPr algn="l"/>
            <a:r>
              <a:rPr sz="1050">
                <a:solidFill>
                  <a:srgbClr val="A9333F"/>
                </a:solidFill>
                <a:latin typeface="Georgia"/>
              </a:rPr>
              <a:t>⚑  B.Tech Project – I | First Review | School of Computer Science and Engineering | VIT Chennai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82512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333F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D3B66"/>
                </a:solidFill>
                <a:latin typeface="Segoe UI"/>
              </a:rPr>
              <a:t>06 · WORK COMPLETED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A1D22"/>
                </a:solidFill>
                <a:latin typeface="Georgia"/>
              </a:rPr>
              <a:t>Is the judge itself trustworthy?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4F58"/>
                </a:solidFill>
                <a:latin typeface="Segoe UI"/>
              </a:rPr>
              <a:t>Before grading any strategy, the LLM hallucination judge is checked against RAGTruth's own human annotations.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627632"/>
            <a:ext cx="11064240" cy="0"/>
          </a:xfrm>
          <a:prstGeom prst="line">
            <a:avLst/>
          </a:prstGeom>
          <a:ln w="1270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965960"/>
            <a:ext cx="6035040" cy="19659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tIns="201168" rIns="219456" wrap="square"/>
          <a:lstStyle/>
          <a:p>
            <a:pPr algn="ctr"/>
            <a:r>
              <a:rPr b="1" sz="1400">
                <a:solidFill>
                  <a:srgbClr val="0D3B66"/>
                </a:solidFill>
                <a:latin typeface="Segoe UI"/>
              </a:rPr>
              <a:t>Why calibrate a judge?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4A4F58"/>
                </a:solidFill>
                <a:latin typeface="Segoe UI"/>
              </a:rPr>
              <a:t>RAGTruth's human labels were written for its own models' answers, not ours. So the judge is run on RAGTruth's original (context, response, human-label) triples, and its predictions are compared against those human labels — before it is trusted to grade any of our own strategies' output.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605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0.87</a:t>
            </a:r>
          </a:p>
          <a:p>
            <a:pPr algn="ctr"/>
            <a:r>
              <a:rPr sz="950">
                <a:solidFill>
                  <a:srgbClr val="C9D8E8"/>
                </a:solidFill>
                <a:latin typeface="Segoe UI"/>
              </a:rPr>
              <a:t>PRECISION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76272" y="41605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0.87</a:t>
            </a:r>
          </a:p>
          <a:p>
            <a:pPr algn="ctr"/>
            <a:r>
              <a:rPr sz="950">
                <a:solidFill>
                  <a:srgbClr val="C9D8E8"/>
                </a:solidFill>
                <a:latin typeface="Segoe UI"/>
              </a:rPr>
              <a:t>RECALL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03904" y="41605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0.87</a:t>
            </a:r>
          </a:p>
          <a:p>
            <a:pPr algn="ctr"/>
            <a:r>
              <a:rPr sz="950">
                <a:solidFill>
                  <a:srgbClr val="C9D8E8"/>
                </a:solidFill>
                <a:latin typeface="Segoe UI"/>
              </a:rPr>
              <a:t>F1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31536" y="41605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0.87</a:t>
            </a:r>
          </a:p>
          <a:p>
            <a:pPr algn="ctr"/>
            <a:r>
              <a:rPr sz="950">
                <a:solidFill>
                  <a:srgbClr val="C9D8E8"/>
                </a:solidFill>
                <a:latin typeface="Segoe UI"/>
              </a:rPr>
              <a:t>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9659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201168" rIns="201168" wrap="square"/>
          <a:lstStyle/>
          <a:p>
            <a:pPr algn="ctr"/>
            <a:r>
              <a:rPr b="1" sz="1350">
                <a:solidFill>
                  <a:srgbClr val="0D3B66"/>
                </a:solidFill>
                <a:latin typeface="Segoe UI"/>
              </a:rPr>
              <a:t>Methodology detail</a:t>
            </a:r>
          </a:p>
          <a:p>
            <a:pPr>
              <a:spcBef>
                <a:spcPts val="800"/>
              </a:spcBef>
            </a:pPr>
            <a:r>
              <a:rPr sz="1150">
                <a:solidFill>
                  <a:srgbClr val="4A4F58"/>
                </a:solidFill>
                <a:latin typeface="Segoe UI"/>
              </a:rPr>
              <a:t>The judge is prompted to decompose each answer into atomic claims and check each one individually against the context — a single unsupported clause inside an otherwise-correct long answer must still be flagged.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8A8F98"/>
                </a:solidFill>
                <a:latin typeface="Segoe UI"/>
              </a:rPr>
              <a:t>n = 30 calibration rows, held out from the evaluation set. These are framework-validation numbers — not the strategy comparison.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8288" bIns="0"/>
          <a:lstStyle/>
          <a:p>
            <a:pPr algn="l"/>
            <a:r>
              <a:rPr sz="1050">
                <a:solidFill>
                  <a:srgbClr val="A9333F"/>
                </a:solidFill>
                <a:latin typeface="Georgia"/>
              </a:rPr>
              <a:t>⚑  B.Tech Project – I | First Review | School of Computer Science and Engineering | VIT Chennai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382512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333F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D3B66"/>
                </a:solidFill>
                <a:latin typeface="Segoe UI"/>
              </a:rPr>
              <a:t>07 · PROJECT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A1D22"/>
                </a:solidFill>
                <a:latin typeface="Georgia"/>
              </a:rPr>
              <a:t>Four review checkpoints across the semester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225296"/>
            <a:ext cx="11064240" cy="0"/>
          </a:xfrm>
          <a:prstGeom prst="line">
            <a:avLst/>
          </a:prstGeom>
          <a:ln w="1270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1965960"/>
            <a:ext cx="2596896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146304" rIns="128016" wrap="square"/>
          <a:lstStyle/>
          <a:p>
            <a:pPr algn="ctr"/>
            <a:r>
              <a:rPr sz="950" b="1">
                <a:solidFill>
                  <a:srgbClr val="8A8F98"/>
                </a:solidFill>
                <a:latin typeface="Segoe UI"/>
              </a:rPr>
              <a:t>PHASE 1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1A1D22"/>
                </a:solidFill>
                <a:latin typeface="Segoe UI"/>
              </a:rPr>
              <a:t>Zeroth Review</a:t>
            </a:r>
          </a:p>
          <a:p>
            <a:pPr>
              <a:spcBef>
                <a:spcPts val="200"/>
              </a:spcBef>
            </a:pPr>
            <a:r>
              <a:rPr sz="1150" i="1">
                <a:solidFill>
                  <a:srgbClr val="1E7A4C"/>
                </a:solidFill>
                <a:latin typeface="Segoe UI"/>
              </a:rPr>
              <a:t>Foundation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4A4F58"/>
                </a:solidFill>
                <a:latin typeface="Segoe UI"/>
              </a:rPr>
              <a:t>—  Problem identification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4A4F58"/>
                </a:solidFill>
                <a:latin typeface="Segoe UI"/>
              </a:rPr>
              <a:t>—  Literature survey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4A4F58"/>
                </a:solidFill>
                <a:latin typeface="Segoe UI"/>
              </a:rPr>
              <a:t>—  Initial proposal &amp; scope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5010912"/>
            <a:ext cx="665683" cy="274320"/>
          </a:xfrm>
          <a:prstGeom prst="roundRect">
            <a:avLst>
              <a:gd name="adj" fmla="val 50000"/>
            </a:avLst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900" b="1">
                <a:solidFill>
                  <a:srgbClr val="1E7A4C"/>
                </a:solidFill>
                <a:latin typeface="Segoe UI"/>
              </a:rPr>
              <a:t>✓ 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1965960"/>
            <a:ext cx="2596896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146304" rIns="128016" wrap="square"/>
          <a:lstStyle/>
          <a:p>
            <a:pPr algn="ctr"/>
            <a:r>
              <a:rPr sz="950" b="1">
                <a:solidFill>
                  <a:srgbClr val="8A8F98"/>
                </a:solidFill>
                <a:latin typeface="Segoe UI"/>
              </a:rPr>
              <a:t>PHASE 2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1A1D22"/>
                </a:solidFill>
                <a:latin typeface="Segoe UI"/>
              </a:rPr>
              <a:t>First Review</a:t>
            </a:r>
          </a:p>
          <a:p>
            <a:pPr>
              <a:spcBef>
                <a:spcPts val="200"/>
              </a:spcBef>
            </a:pPr>
            <a:r>
              <a:rPr sz="1150" i="1">
                <a:solidFill>
                  <a:srgbClr val="0D3B66"/>
                </a:solidFill>
                <a:latin typeface="Segoe UI"/>
              </a:rPr>
              <a:t>Pipeline &amp; Framework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4A4F58"/>
                </a:solidFill>
                <a:latin typeface="Segoe UI"/>
              </a:rPr>
              <a:t>—  Fixed RAG pipeline built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4A4F58"/>
                </a:solidFill>
                <a:latin typeface="Segoe UI"/>
              </a:rPr>
              <a:t>—  All 4 strategies implemented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4A4F58"/>
                </a:solidFill>
                <a:latin typeface="Segoe UI"/>
              </a:rPr>
              <a:t>—  Evaluation framework validated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5010912"/>
            <a:ext cx="1164945" cy="274320"/>
          </a:xfrm>
          <a:prstGeom prst="roundRect">
            <a:avLst>
              <a:gd name="adj" fmla="val 50000"/>
            </a:avLst>
          </a:prstGeom>
          <a:solidFill>
            <a:srgbClr val="DC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900" b="1">
                <a:solidFill>
                  <a:srgbClr val="0D3B66"/>
                </a:solidFill>
                <a:latin typeface="Segoe UI"/>
              </a:rPr>
              <a:t>● IN PROGRESS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1" y="1965960"/>
            <a:ext cx="2596896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146304" rIns="128016" wrap="square"/>
          <a:lstStyle/>
          <a:p>
            <a:pPr algn="ctr"/>
            <a:r>
              <a:rPr sz="950" b="1">
                <a:solidFill>
                  <a:srgbClr val="8A8F98"/>
                </a:solidFill>
                <a:latin typeface="Segoe UI"/>
              </a:rPr>
              <a:t>PHASE 3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1A1D22"/>
                </a:solidFill>
                <a:latin typeface="Segoe UI"/>
              </a:rPr>
              <a:t>Second Review</a:t>
            </a:r>
          </a:p>
          <a:p>
            <a:pPr>
              <a:spcBef>
                <a:spcPts val="200"/>
              </a:spcBef>
            </a:pPr>
            <a:r>
              <a:rPr sz="1150" i="1">
                <a:solidFill>
                  <a:srgbClr val="5A5E66"/>
                </a:solidFill>
                <a:latin typeface="Segoe UI"/>
              </a:rPr>
              <a:t>Full-Scale Benchmark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4A4F58"/>
                </a:solidFill>
                <a:latin typeface="Segoe UI"/>
              </a:rPr>
              <a:t>—  Run all strategies at scale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4A4F58"/>
                </a:solidFill>
                <a:latin typeface="Segoe UI"/>
              </a:rPr>
              <a:t>—  Final accuracy / hallucination comparison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4A4F58"/>
                </a:solidFill>
                <a:latin typeface="Segoe UI"/>
              </a:rPr>
              <a:t>—  Cost &amp; latency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7647" y="5010912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900" b="1">
                <a:solidFill>
                  <a:srgbClr val="5A5E66"/>
                </a:solidFill>
                <a:latin typeface="Segoe UI"/>
              </a:rPr>
              <a:t>○ UPCOMING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25128" y="1965960"/>
            <a:ext cx="2596896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146304" rIns="128016" wrap="square"/>
          <a:lstStyle/>
          <a:p>
            <a:pPr algn="ctr"/>
            <a:r>
              <a:rPr sz="950" b="1">
                <a:solidFill>
                  <a:srgbClr val="8A8F98"/>
                </a:solidFill>
                <a:latin typeface="Segoe UI"/>
              </a:rPr>
              <a:t>PHASE 4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1A1D22"/>
                </a:solidFill>
                <a:latin typeface="Segoe UI"/>
              </a:rPr>
              <a:t>Final Review</a:t>
            </a:r>
          </a:p>
          <a:p>
            <a:pPr>
              <a:spcBef>
                <a:spcPts val="200"/>
              </a:spcBef>
            </a:pPr>
            <a:r>
              <a:rPr sz="1150" i="1">
                <a:solidFill>
                  <a:srgbClr val="5A5E66"/>
                </a:solidFill>
                <a:latin typeface="Segoe UI"/>
              </a:rPr>
              <a:t>Analysis &amp; Submission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4A4F58"/>
                </a:solidFill>
                <a:latin typeface="Segoe UI"/>
              </a:rPr>
              <a:t>—  Statistical significance check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4A4F58"/>
                </a:solidFill>
                <a:latin typeface="Segoe UI"/>
              </a:rPr>
              <a:t>—  Final report &amp; recommendations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4A4F58"/>
                </a:solidFill>
                <a:latin typeface="Segoe UI"/>
              </a:rPr>
              <a:t>—  Project documentation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53144" y="5010912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900" b="1">
                <a:solidFill>
                  <a:srgbClr val="5A5E66"/>
                </a:solidFill>
                <a:latin typeface="Segoe UI"/>
              </a:rPr>
              <a:t>○ UPCOMING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08376" y="3680460"/>
            <a:ext cx="502919" cy="0"/>
          </a:xfrm>
          <a:prstGeom prst="line">
            <a:avLst/>
          </a:prstGeom>
          <a:ln w="15875">
            <a:solidFill>
              <a:srgbClr val="8A8F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833871" y="3680460"/>
            <a:ext cx="502921" cy="0"/>
          </a:xfrm>
          <a:prstGeom prst="line">
            <a:avLst/>
          </a:prstGeom>
          <a:ln w="15875">
            <a:solidFill>
              <a:srgbClr val="8A8F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659367" y="3680460"/>
            <a:ext cx="502921" cy="0"/>
          </a:xfrm>
          <a:prstGeom prst="line">
            <a:avLst/>
          </a:prstGeom>
          <a:ln w="15875">
            <a:solidFill>
              <a:srgbClr val="8A8F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8288" bIns="0"/>
          <a:lstStyle/>
          <a:p>
            <a:pPr algn="l"/>
            <a:r>
              <a:rPr sz="1050">
                <a:solidFill>
                  <a:srgbClr val="A9333F"/>
                </a:solidFill>
                <a:latin typeface="Georgia"/>
              </a:rPr>
              <a:t>⚑  B.Tech Project – I | First Review | School of Computer Science and Engineering | VIT Chennai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382512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333F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D3B66"/>
                </a:solidFill>
                <a:latin typeface="Segoe UI"/>
              </a:rPr>
              <a:t>08 · TOOLS &amp;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A1D22"/>
                </a:solidFill>
                <a:latin typeface="Georgia"/>
              </a:rPr>
              <a:t>What it's built with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225296"/>
            <a:ext cx="11064240" cy="0"/>
          </a:xfrm>
          <a:prstGeom prst="line">
            <a:avLst/>
          </a:prstGeom>
          <a:ln w="1270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1965960"/>
            <a:ext cx="3520440" cy="118872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0"/>
          <a:lstStyle/>
          <a:p>
            <a:pPr algn="ctr"/>
            <a:r>
              <a:rPr sz="1000" b="1">
                <a:solidFill>
                  <a:srgbClr val="8A8F98"/>
                </a:solidFill>
                <a:latin typeface="Segoe UI"/>
              </a:rPr>
              <a:t>ORCHESTRATION</a:t>
            </a:r>
          </a:p>
          <a:p>
            <a:pPr>
              <a:spcBef>
                <a:spcPts val="400"/>
              </a:spcBef>
            </a:pPr>
            <a:r>
              <a:rPr sz="1550" b="1">
                <a:solidFill>
                  <a:srgbClr val="0D3B66"/>
                </a:solidFill>
                <a:latin typeface="Segoe UI"/>
              </a:rPr>
              <a:t>LangChain (LCEL)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65960"/>
            <a:ext cx="3520440" cy="118872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0"/>
          <a:lstStyle/>
          <a:p>
            <a:pPr algn="ctr"/>
            <a:r>
              <a:rPr sz="1000" b="1">
                <a:solidFill>
                  <a:srgbClr val="8A8F98"/>
                </a:solidFill>
                <a:latin typeface="Segoe UI"/>
              </a:rPr>
              <a:t>VECTOR STORE</a:t>
            </a:r>
          </a:p>
          <a:p>
            <a:pPr>
              <a:spcBef>
                <a:spcPts val="400"/>
              </a:spcBef>
            </a:pPr>
            <a:r>
              <a:rPr sz="1550" b="1">
                <a:solidFill>
                  <a:srgbClr val="0D3B66"/>
                </a:solidFill>
                <a:latin typeface="Segoe UI"/>
              </a:rPr>
              <a:t>ChromaDB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965960"/>
            <a:ext cx="3520440" cy="118872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0"/>
          <a:lstStyle/>
          <a:p>
            <a:pPr algn="ctr"/>
            <a:r>
              <a:rPr sz="1000" b="1">
                <a:solidFill>
                  <a:srgbClr val="8A8F98"/>
                </a:solidFill>
                <a:latin typeface="Segoe UI"/>
              </a:rPr>
              <a:t>EMBEDDINGS</a:t>
            </a:r>
          </a:p>
          <a:p>
            <a:pPr>
              <a:spcBef>
                <a:spcPts val="400"/>
              </a:spcBef>
            </a:pPr>
            <a:r>
              <a:rPr sz="1550" b="1">
                <a:solidFill>
                  <a:srgbClr val="0D3B66"/>
                </a:solidFill>
                <a:latin typeface="Segoe UI"/>
              </a:rPr>
              <a:t>text-embedding-3-small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0712"/>
            <a:ext cx="3520440" cy="118872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0"/>
          <a:lstStyle/>
          <a:p>
            <a:pPr algn="ctr"/>
            <a:r>
              <a:rPr sz="1000" b="1">
                <a:solidFill>
                  <a:srgbClr val="8A8F98"/>
                </a:solidFill>
                <a:latin typeface="Segoe UI"/>
              </a:rPr>
              <a:t>BASE LLM</a:t>
            </a:r>
          </a:p>
          <a:p>
            <a:pPr>
              <a:spcBef>
                <a:spcPts val="400"/>
              </a:spcBef>
            </a:pPr>
            <a:r>
              <a:rPr sz="1550" b="1">
                <a:solidFill>
                  <a:srgbClr val="0D3B66"/>
                </a:solidFill>
                <a:latin typeface="Segoe UI"/>
              </a:rPr>
              <a:t>gpt-4o-mini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410712"/>
            <a:ext cx="3520440" cy="118872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0"/>
          <a:lstStyle/>
          <a:p>
            <a:pPr algn="ctr"/>
            <a:r>
              <a:rPr sz="1000" b="1">
                <a:solidFill>
                  <a:srgbClr val="8A8F98"/>
                </a:solidFill>
                <a:latin typeface="Segoe UI"/>
              </a:rPr>
              <a:t>VALIDATION</a:t>
            </a:r>
          </a:p>
          <a:p>
            <a:pPr>
              <a:spcBef>
                <a:spcPts val="400"/>
              </a:spcBef>
            </a:pPr>
            <a:r>
              <a:rPr sz="1550" b="1">
                <a:solidFill>
                  <a:srgbClr val="0D3B66"/>
                </a:solidFill>
                <a:latin typeface="Segoe UI"/>
              </a:rPr>
              <a:t>Pydantic v2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410712"/>
            <a:ext cx="3520440" cy="118872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0"/>
          <a:lstStyle/>
          <a:p>
            <a:pPr algn="ctr"/>
            <a:r>
              <a:rPr sz="1000" b="1">
                <a:solidFill>
                  <a:srgbClr val="8A8F98"/>
                </a:solidFill>
                <a:latin typeface="Segoe UI"/>
              </a:rPr>
              <a:t>EVALUATION</a:t>
            </a:r>
          </a:p>
          <a:p>
            <a:pPr>
              <a:spcBef>
                <a:spcPts val="400"/>
              </a:spcBef>
            </a:pPr>
            <a:r>
              <a:rPr sz="1550" b="1">
                <a:solidFill>
                  <a:srgbClr val="0D3B66"/>
                </a:solidFill>
                <a:latin typeface="Segoe UI"/>
              </a:rPr>
              <a:t>RAGAS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55464"/>
            <a:ext cx="3520440" cy="118872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0"/>
          <a:lstStyle/>
          <a:p>
            <a:pPr algn="ctr"/>
            <a:r>
              <a:rPr sz="1000" b="1">
                <a:solidFill>
                  <a:srgbClr val="8A8F98"/>
                </a:solidFill>
                <a:latin typeface="Segoe UI"/>
              </a:rPr>
              <a:t>DATASET</a:t>
            </a:r>
          </a:p>
          <a:p>
            <a:pPr>
              <a:spcBef>
                <a:spcPts val="400"/>
              </a:spcBef>
            </a:pPr>
            <a:r>
              <a:rPr sz="1550" b="1">
                <a:solidFill>
                  <a:srgbClr val="0D3B66"/>
                </a:solidFill>
                <a:latin typeface="Segoe UI"/>
              </a:rPr>
              <a:t>RAGTruth (Hugging Face)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855464"/>
            <a:ext cx="3520440" cy="118872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0"/>
          <a:lstStyle/>
          <a:p>
            <a:pPr algn="ctr"/>
            <a:r>
              <a:rPr sz="1000" b="1">
                <a:solidFill>
                  <a:srgbClr val="8A8F98"/>
                </a:solidFill>
                <a:latin typeface="Segoe UI"/>
              </a:rPr>
              <a:t>BACKEND / GUI</a:t>
            </a:r>
          </a:p>
          <a:p>
            <a:pPr>
              <a:spcBef>
                <a:spcPts val="400"/>
              </a:spcBef>
            </a:pPr>
            <a:r>
              <a:rPr sz="1550" b="1">
                <a:solidFill>
                  <a:srgbClr val="0D3B66"/>
                </a:solidFill>
                <a:latin typeface="Segoe UI"/>
              </a:rPr>
              <a:t>FastAPI + WebSocket + JS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855464"/>
            <a:ext cx="3520440" cy="118872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0"/>
          <a:lstStyle/>
          <a:p>
            <a:pPr algn="ctr"/>
            <a:r>
              <a:rPr sz="1000" b="1">
                <a:solidFill>
                  <a:srgbClr val="8A8F98"/>
                </a:solidFill>
                <a:latin typeface="Segoe UI"/>
              </a:rPr>
              <a:t>TESTING</a:t>
            </a:r>
          </a:p>
          <a:p>
            <a:pPr>
              <a:spcBef>
                <a:spcPts val="400"/>
              </a:spcBef>
            </a:pPr>
            <a:r>
              <a:rPr sz="1550" b="1">
                <a:solidFill>
                  <a:srgbClr val="0D3B66"/>
                </a:solidFill>
                <a:latin typeface="Segoe UI"/>
              </a:rPr>
              <a:t>pytest (14 tests)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8288" bIns="0"/>
          <a:lstStyle/>
          <a:p>
            <a:pPr algn="l"/>
            <a:r>
              <a:rPr sz="1050">
                <a:solidFill>
                  <a:srgbClr val="A9333F"/>
                </a:solidFill>
                <a:latin typeface="Georgia"/>
              </a:rPr>
              <a:t>⚑  B.Tech Project – I | First Review | School of Computer Science and Engineering | VIT Chennai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382512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333F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
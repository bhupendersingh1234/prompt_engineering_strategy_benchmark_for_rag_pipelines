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21792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A4F58"/>
                </a:solidFill>
                <a:latin typeface="Georgia"/>
              </a:rPr>
              <a:t>VIT CHENNAI  —  B.Tech Project – I  — 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0D3B66"/>
                </a:solidFill>
                <a:latin typeface="Segoe UI"/>
              </a:rPr>
              <a:t>Proposed Solution &amp; 50% Work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725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1A1D22"/>
                </a:solidFill>
                <a:latin typeface="Georgia"/>
              </a:rPr>
              <a:t>Prompt Engineering Strategy Benchmark for RAG Pipelines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2331720"/>
            <a:ext cx="11365992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2606040"/>
            <a:ext cx="5257800" cy="18288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182880" rIns="182880"/>
          <a:lstStyle/>
          <a:p>
            <a:pPr algn="ctr"/>
            <a:r>
              <a:rPr sz="1500">
                <a:solidFill>
                  <a:srgbClr val="FFFFFF"/>
                </a:solidFill>
                <a:latin typeface="Georgia"/>
              </a:rPr>
              <a:t>Project Team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FFFFF"/>
                </a:solidFill>
                <a:latin typeface="Segoe UI"/>
              </a:rPr>
              <a:t>23BAI1057</a:t>
            </a:r>
            <a:r>
              <a:rPr sz="1300">
                <a:solidFill>
                  <a:srgbClr val="DDE6F0"/>
                </a:solidFill>
                <a:latin typeface="Segoe UI"/>
              </a:rPr>
              <a:t>  —  Astitva Thakkar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FFFFF"/>
                </a:solidFill>
                <a:latin typeface="Segoe UI"/>
              </a:rPr>
              <a:t>23BAI1528</a:t>
            </a:r>
            <a:r>
              <a:rPr sz="1300">
                <a:solidFill>
                  <a:srgbClr val="DDE6F0"/>
                </a:solidFill>
                <a:latin typeface="Segoe UI"/>
              </a:rPr>
              <a:t>  —  Parth Sharma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FFFFF"/>
                </a:solidFill>
                <a:latin typeface="Segoe UI"/>
              </a:rPr>
              <a:t>23BRS1107</a:t>
            </a:r>
            <a:r>
              <a:rPr sz="1300">
                <a:solidFill>
                  <a:srgbClr val="DDE6F0"/>
                </a:solidFill>
                <a:latin typeface="Segoe UI"/>
              </a:rPr>
              <a:t>  —  Bhupender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06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D22"/>
                </a:solidFill>
                <a:latin typeface="Georgia"/>
              </a:rPr>
              <a:t>Faculty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35808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Name: Manmohan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37413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ERP ID: 53622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712463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School: SENSE (School of Electronics and Communication Engineering)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1239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Signature: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4032504"/>
            <a:ext cx="3566160" cy="502920"/>
          </a:xfrm>
          <a:prstGeom prst="rect">
            <a:avLst/>
          </a:prstGeom>
          <a:noFill/>
          <a:ln w="12700">
            <a:solidFill>
              <a:srgbClr val="8A8F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169663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A8F98"/>
                </a:solidFill>
                <a:latin typeface="Segoe UI"/>
              </a:rPr>
              <a:t>insert scanned signature image 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989320"/>
            <a:ext cx="11365992" cy="50292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/>
            <a:r>
              <a:rPr sz="120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01 · PROBLEM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Retrieval fixes hallucination — prompting still decides how well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6309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450" b="1">
                <a:solidFill>
                  <a:srgbClr val="1A1D22"/>
                </a:solidFill>
                <a:latin typeface="Segoe UI"/>
              </a:rPr>
              <a:t>Background: </a:t>
            </a:r>
            <a:r>
              <a:rPr sz="1450">
                <a:solidFill>
                  <a:srgbClr val="1A1D22"/>
                </a:solidFill>
                <a:latin typeface="Segoe UI"/>
              </a:rPr>
              <a:t>Large Language Models generate fluent but sometimes fabricated text when answering from parametric knowledge alone (Ji et al., 2023).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450" b="1">
                <a:solidFill>
                  <a:srgbClr val="1A1D22"/>
                </a:solidFill>
                <a:latin typeface="Segoe UI"/>
              </a:rPr>
              <a:t>Retrieval-Augmented Generation </a:t>
            </a:r>
            <a:r>
              <a:rPr sz="1450">
                <a:solidFill>
                  <a:srgbClr val="1A1D22"/>
                </a:solidFill>
                <a:latin typeface="Segoe UI"/>
              </a:rPr>
              <a:t>(Lewis et al., 2020) mitigates this by grounding generation in retrieved documents, and is now the dominant approach for building trustworthy LLM applications.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450" b="1">
                <a:solidFill>
                  <a:srgbClr val="1A1D22"/>
                </a:solidFill>
                <a:latin typeface="Segoe UI"/>
              </a:rPr>
              <a:t>The open problem: </a:t>
            </a:r>
            <a:r>
              <a:rPr sz="1450">
                <a:solidFill>
                  <a:srgbClr val="1A1D22"/>
                </a:solidFill>
                <a:latin typeface="Segoe UI"/>
              </a:rPr>
              <a:t>answer quality inside a RAG pipeline still depends heavily on how the retrieved context is handed to the LLM — the prompting strategy — not just on retrieval quality itself.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450" b="1">
                <a:solidFill>
                  <a:srgbClr val="1A1D22"/>
                </a:solidFill>
                <a:latin typeface="Segoe UI"/>
              </a:rPr>
              <a:t>The gap: </a:t>
            </a:r>
            <a:r>
              <a:rPr sz="1450">
                <a:solidFill>
                  <a:srgbClr val="1A1D22"/>
                </a:solidFill>
                <a:latin typeface="Segoe UI"/>
              </a:rPr>
              <a:t>no controlled study isolates prompting strategy as the sole variable while holding chunking, embeddings, retrieval, and the base model fixed.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1920240"/>
            <a:ext cx="4480560" cy="3931920"/>
          </a:xfrm>
          <a:prstGeom prst="rect">
            <a:avLst/>
          </a:prstGeom>
          <a:solidFill>
            <a:srgbClr val="F5F7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tIns="256032" rIns="256032"/>
          <a:lstStyle/>
          <a:p>
            <a:pPr algn="ctr"/>
            <a:r>
              <a:rPr b="1" sz="1400">
                <a:solidFill>
                  <a:srgbClr val="0D3B66"/>
                </a:solidFill>
                <a:latin typeface="Segoe UI"/>
              </a:rPr>
              <a:t>Problem statement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A1D22"/>
                </a:solidFill>
                <a:latin typeface="Segoe UI"/>
              </a:rPr>
              <a:t>Systematically benchmark four prompting strategies — Zero-shot, Few-shot, Chain-of-Thought, and Structured Output — on an identical RAG pipeline, isolating prompt design as the only variable, to identify the most reliable, grounded approach for production RAG systems.</a:t>
            </a:r>
          </a:p>
          <a:p>
            <a:pPr>
              <a:spcBef>
                <a:spcPts val="1600"/>
              </a:spcBef>
            </a:pPr>
            <a:r>
              <a:rPr sz="1150" i="1">
                <a:solidFill>
                  <a:srgbClr val="8A8F98"/>
                </a:solidFill>
                <a:latin typeface="Segoe UI"/>
              </a:rPr>
              <a:t>Domain: AI · LLMs · RAG · NLP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02 ·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Ten references spanning RAG, prompting, and hallucination 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74519"/>
            <a:ext cx="5349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[1]  </a:t>
            </a:r>
            <a:r>
              <a:rPr sz="1050">
                <a:solidFill>
                  <a:srgbClr val="4A4F58"/>
                </a:solidFill>
                <a:latin typeface="Segoe UI"/>
              </a:rPr>
              <a:t>P. Lewis et al., “Retrieval-augmented generation for knowledge-intensive NLP tasks,” in Advances in Neural Information Processing Systems 33 (NeurIPS 2020), 2020.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[2]  </a:t>
            </a:r>
            <a:r>
              <a:rPr sz="1050">
                <a:solidFill>
                  <a:srgbClr val="4A4F58"/>
                </a:solidFill>
                <a:latin typeface="Segoe UI"/>
              </a:rPr>
              <a:t>T. B. Brown et al., “Language models are few-shot learners,” in Advances in Neural Information Processing Systems 33 (NeurIPS 2020), 2020.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[3]  </a:t>
            </a:r>
            <a:r>
              <a:rPr sz="1050">
                <a:solidFill>
                  <a:srgbClr val="4A4F58"/>
                </a:solidFill>
                <a:latin typeface="Segoe UI"/>
              </a:rPr>
              <a:t>K. Shuster, S. Poff, M. Chen, D. Kiela, and J. Weston, “Retrieval augmentation reduces hallucination in conversation,” in Findings of the Association for Computational Linguistics: EMNLP 2021, Punta Cana, Dominican Republic, Nov. 2021, pp. 3784–3803.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[4]  </a:t>
            </a:r>
            <a:r>
              <a:rPr sz="1050">
                <a:solidFill>
                  <a:srgbClr val="4A4F58"/>
                </a:solidFill>
                <a:latin typeface="Segoe UI"/>
              </a:rPr>
              <a:t>J. Wei et al., “Chain-of-thought prompting elicits reasoning in large language models,” in Advances in Neural Information Processing Systems 35 (NeurIPS 2022), 2022.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[5]  </a:t>
            </a:r>
            <a:r>
              <a:rPr sz="1050">
                <a:solidFill>
                  <a:srgbClr val="4A4F58"/>
                </a:solidFill>
                <a:latin typeface="Segoe UI"/>
              </a:rPr>
              <a:t>T. Kojima, S. S. Gu, M. Reid, Y. Matsuo, and Y. Iwasawa, “Large language models are zero-shot reasoners,” in Advances in Neural Information Processing Systems 35 (NeurIPS 2022), 2022.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74519"/>
            <a:ext cx="5349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[6]  </a:t>
            </a:r>
            <a:r>
              <a:rPr sz="1050">
                <a:solidFill>
                  <a:srgbClr val="4A4F58"/>
                </a:solidFill>
                <a:latin typeface="Segoe UI"/>
              </a:rPr>
              <a:t>P. Liu, W. Yuan, J. Fu, Z. Jiang, H. Hayashi, and G. Neubig, “Pre-train, prompt, and predict: A systematic survey of prompting methods in natural language processing,” ACM Computing Surveys, vol. 55, no. 9, pp. 1–35, Jan. 2023.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[7]  </a:t>
            </a:r>
            <a:r>
              <a:rPr sz="1050">
                <a:solidFill>
                  <a:srgbClr val="4A4F58"/>
                </a:solidFill>
                <a:latin typeface="Segoe UI"/>
              </a:rPr>
              <a:t>Z. Ji et al., “Survey of hallucination in natural language generation,” ACM Computing Surveys, vol. 55, no. 12, 2023.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[8]  </a:t>
            </a:r>
            <a:r>
              <a:rPr sz="1050">
                <a:solidFill>
                  <a:srgbClr val="4A4F58"/>
                </a:solidFill>
                <a:latin typeface="Segoe UI"/>
              </a:rPr>
              <a:t>Y. Gao et al., “Retrieval-augmented generation for large language models: A survey,” arXiv preprint arXiv:2312.10997, Dec. 2023.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[9]  </a:t>
            </a:r>
            <a:r>
              <a:rPr sz="1050">
                <a:solidFill>
                  <a:srgbClr val="4A4F58"/>
                </a:solidFill>
                <a:latin typeface="Segoe UI"/>
              </a:rPr>
              <a:t>S. Es, J. James, L. Espinosa-Anke, and S. Schockaert, “RAGAS: Automated evaluation of retrieval augmented generation,” in Proc. 18th Conf. European Chapter Assoc. Comput. Linguistics: System Demonstrations (EACL), St. Julian’s, Malta, Mar. 2024, pp. 150–158.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 b="1">
                <a:solidFill>
                  <a:srgbClr val="0D3B66"/>
                </a:solidFill>
                <a:latin typeface="Consolas"/>
              </a:rPr>
              <a:t>[10]  </a:t>
            </a:r>
            <a:r>
              <a:rPr sz="1050">
                <a:solidFill>
                  <a:srgbClr val="4A4F58"/>
                </a:solidFill>
                <a:latin typeface="Segoe UI"/>
              </a:rPr>
              <a:t>C. Niu et al., “RAGTruth: A hallucination corpus for developing trustworthy retrieval-augmented language models,” in Proc. 62nd Annual Meeting Assoc. Comput. Linguistics (ACL), Vol. 1: Long Papers, Bangkok, Thailand, Aug. 2024, pp. 10862–10878.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03 · 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What's already out there, and where it falls short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Existing Approach</a:t>
                      </a:r>
                    </a:p>
                  </a:txBody>
                  <a:tcPr anchor="ctr" marL="109728"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Limitation</a:t>
                      </a:r>
                    </a:p>
                  </a:txBody>
                  <a:tcPr anchor="ctr" marL="109728">
                    <a:solidFill>
                      <a:srgbClr val="0D3B6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Standard RAG pipelines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F58"/>
                          </a:solidFill>
                          <a:latin typeface="Segoe UI"/>
                        </a:rPr>
                        <a:t>Retrieval reduces hallucination, but prompt design is treated as an implementation detail, not studied systematically.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Few-shot / CoT prompting research</a:t>
                      </a:r>
                    </a:p>
                  </a:txBody>
                  <a:tcPr anchor="ctr" marL="109728" marT="27432" marB="27432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F58"/>
                          </a:solidFill>
                          <a:latin typeface="Segoe UI"/>
                        </a:rPr>
                        <a:t>Extensively studied for general reasoning tasks; rarely evaluated inside a RAG pipeline with retrieval held constant.</a:t>
                      </a:r>
                    </a:p>
                  </a:txBody>
                  <a:tcPr anchor="ctr" marL="109728" marT="27432" marB="27432">
                    <a:solidFill>
                      <a:srgbClr val="F7F9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RAG evaluation frameworks (RAGAS)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F58"/>
                          </a:solidFill>
                          <a:latin typeface="Segoe UI"/>
                        </a:rPr>
                        <a:t>Provide faithfulness / relevancy metrics, but don't benchmark prompting strategies against each other.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Hallucination corpora (RAGTruth)</a:t>
                      </a:r>
                    </a:p>
                  </a:txBody>
                  <a:tcPr anchor="ctr" marL="109728" marT="27432" marB="27432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F58"/>
                          </a:solidFill>
                          <a:latin typeface="Segoe UI"/>
                        </a:rPr>
                        <a:t>Rich human-labeled hallucination data — but labels apply to the original models' answers, not a controlled ablation.</a:t>
                      </a:r>
                    </a:p>
                  </a:txBody>
                  <a:tcPr anchor="ctr" marL="109728" marT="27432" marB="27432">
                    <a:solidFill>
                      <a:srgbClr val="F7F9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Production RAG systems (industry)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F58"/>
                          </a:solidFill>
                          <a:latin typeface="Segoe UI"/>
                        </a:rPr>
                        <a:t>Prompting strategy is usually chosen ad hoc, without a systematic accuracy-vs-hallucination-vs-cost comparison.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46304" rIns="274320" wrap="square"/>
          <a:lstStyle/>
          <a:p>
            <a:pPr algn="ctr"/>
            <a:r>
              <a:rPr b="1" sz="1300">
                <a:solidFill>
                  <a:srgbClr val="A9333F"/>
                </a:solidFill>
                <a:latin typeface="Segoe UI"/>
              </a:rPr>
              <a:t>The gap this project addresses:  </a:t>
            </a:r>
            <a:r>
              <a:rPr sz="1300">
                <a:solidFill>
                  <a:srgbClr val="6B242E"/>
                </a:solidFill>
                <a:latin typeface="Segoe UI"/>
              </a:rPr>
              <a:t>No existing work isolates prompting strategy as the sole variable in a RAG pipeline while holding retrieval, embeddings, and the base model fixed.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04 ·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One fixed pipeline, four prompting strategies, controlled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6309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—  </a:t>
            </a:r>
            <a:r>
              <a:rPr sz="1400" b="1">
                <a:solidFill>
                  <a:srgbClr val="1A1D22"/>
                </a:solidFill>
                <a:latin typeface="Segoe UI"/>
              </a:rPr>
              <a:t>Fix everything except the prompt: </a:t>
            </a:r>
            <a:r>
              <a:rPr sz="1400">
                <a:solidFill>
                  <a:srgbClr val="1A1D22"/>
                </a:solidFill>
                <a:latin typeface="Segoe UI"/>
              </a:rPr>
              <a:t>chunking, embeddings, vector store, top-k retrieval, base LLM, and temperature are held identical across every strategy.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—  </a:t>
            </a:r>
            <a:r>
              <a:rPr sz="1400" b="1">
                <a:solidFill>
                  <a:srgbClr val="1A1D22"/>
                </a:solidFill>
                <a:latin typeface="Segoe UI"/>
              </a:rPr>
              <a:t>Vary only the prompting strategy: </a:t>
            </a:r>
            <a:r>
              <a:rPr sz="1400">
                <a:solidFill>
                  <a:srgbClr val="1A1D22"/>
                </a:solidFill>
                <a:latin typeface="Segoe UI"/>
              </a:rPr>
              <a:t>Zero-shot, Few-shot, Chain-of-Thought, and Structured Output, each implemented as an independent LangChain LCEL chain.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—  </a:t>
            </a:r>
            <a:r>
              <a:rPr sz="1400" b="1">
                <a:solidFill>
                  <a:srgbClr val="1A1D22"/>
                </a:solidFill>
                <a:latin typeface="Segoe UI"/>
              </a:rPr>
              <a:t>Grade with a validated framework: </a:t>
            </a:r>
            <a:r>
              <a:rPr sz="1400">
                <a:solidFill>
                  <a:srgbClr val="1A1D22"/>
                </a:solidFill>
                <a:latin typeface="Segoe UI"/>
              </a:rPr>
              <a:t>RAGAS (Faithfulness, Answer Relevancy) plus a custom LLM judge calibrated against RAGTruth's own human hallucination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920240"/>
            <a:ext cx="4480560" cy="1874519"/>
          </a:xfrm>
          <a:prstGeom prst="roundRect">
            <a:avLst>
              <a:gd name="adj" fmla="val 6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64592" rIns="182880" wrap="square"/>
          <a:lstStyle/>
          <a:p>
            <a:pPr algn="ctr"/>
            <a:r>
              <a:rPr b="1" sz="1300">
                <a:solidFill>
                  <a:srgbClr val="1E7A4C"/>
                </a:solidFill>
                <a:latin typeface="Segoe UI"/>
              </a:rPr>
              <a:t>In scope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4402A"/>
                </a:solidFill>
                <a:latin typeface="Segoe UI"/>
              </a:rPr>
              <a:t>✓  RAGTruth QA subset (Hugging Face)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4402A"/>
                </a:solidFill>
                <a:latin typeface="Segoe UI"/>
              </a:rPr>
              <a:t>✓  4 prompting strategies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4402A"/>
                </a:solidFill>
                <a:latin typeface="Segoe UI"/>
              </a:rPr>
              <a:t>✓  ChromaDB + text-embedding-3-small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4402A"/>
                </a:solidFill>
                <a:latin typeface="Segoe UI"/>
              </a:rPr>
              <a:t>✓  gpt-4o-mini generation &amp; judging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4402A"/>
                </a:solidFill>
                <a:latin typeface="Segoe UI"/>
              </a:rPr>
              <a:t>✓  RAGAS + custom hallucination judge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886200"/>
            <a:ext cx="4480560" cy="1874519"/>
          </a:xfrm>
          <a:prstGeom prst="roundRect">
            <a:avLst>
              <a:gd name="adj" fmla="val 6000"/>
            </a:avLst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64592" rIns="182880" wrap="square"/>
          <a:lstStyle/>
          <a:p>
            <a:pPr algn="ctr"/>
            <a:r>
              <a:rPr b="1" sz="1300">
                <a:solidFill>
                  <a:srgbClr val="5A5E66"/>
                </a:solidFill>
                <a:latin typeface="Segoe UI"/>
              </a:rPr>
              <a:t>Out of scope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A5E66"/>
                </a:solidFill>
                <a:latin typeface="Segoe UI"/>
              </a:rPr>
              <a:t>✗  Other embedding models / vector DBs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A5E66"/>
                </a:solidFill>
                <a:latin typeface="Segoe UI"/>
              </a:rPr>
              <a:t>✗  Other LLM providers / open-weight models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A5E66"/>
                </a:solidFill>
                <a:latin typeface="Segoe UI"/>
              </a:rPr>
              <a:t>✗  Fine-tuning or RLHF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A5E66"/>
                </a:solidFill>
                <a:latin typeface="Segoe UI"/>
              </a:rPr>
              <a:t>✗  Datasets beyond RAGTruth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A5E66"/>
                </a:solidFill>
                <a:latin typeface="Segoe UI"/>
              </a:rPr>
              <a:t>✗  Multi-turn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8A8F98"/>
                </a:solidFill>
                <a:latin typeface="Segoe UI"/>
              </a:rPr>
              <a:t>Methodology in detail — architecture, control-variable table, and framework validation — is covered on the following slides.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05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System architecture — fixed backbone, one variable stage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39" y="1531619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0">
                <a:solidFill>
                  <a:srgbClr val="1A1D22"/>
                </a:solidFill>
                <a:latin typeface="Segoe UI"/>
              </a:rPr>
              <a:t>RAGTruth QA subset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5,934 rows · Hugging 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2034540"/>
            <a:ext cx="0" cy="37947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148840"/>
            <a:ext cx="8778240" cy="10515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3B66"/>
                </a:solidFill>
                <a:latin typeface="Segoe UI"/>
              </a:rPr>
              <a:t>FIXED — identical for every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Chunk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500 / 50 overlap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Embed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text-embedding-3-small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Chroma DB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vector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4072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Retriever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top-k = 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724912"/>
            <a:ext cx="667512" cy="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53712" y="2724912"/>
            <a:ext cx="676656" cy="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84848" y="2724912"/>
            <a:ext cx="649224" cy="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11312" y="3008376"/>
            <a:ext cx="0" cy="301752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54480" y="3310128"/>
            <a:ext cx="6656832" cy="0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54480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76472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7608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11312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3520440"/>
            <a:ext cx="8778240" cy="9601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A9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9333F"/>
                </a:solidFill>
                <a:latin typeface="Segoe UI"/>
              </a:rPr>
              <a:t>THE ONE VARIABLE — prompt strategy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2A78D6"/>
                </a:solidFill>
                <a:latin typeface="Segoe UI"/>
              </a:rPr>
              <a:t>Zero-shot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9232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EB6834"/>
                </a:solidFill>
                <a:latin typeface="Segoe UI"/>
              </a:rPr>
              <a:t>Few-shot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1BAF7A"/>
                </a:solidFill>
                <a:latin typeface="Segoe UI"/>
              </a:rPr>
              <a:t>Chain-of-Thought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34072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4A3AA7"/>
                </a:solidFill>
                <a:latin typeface="Segoe UI"/>
              </a:rPr>
              <a:t>Structured 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54480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6472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07608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11312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554480" y="4572000"/>
            <a:ext cx="6656832" cy="0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82896" y="4572000"/>
            <a:ext cx="0" cy="11430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419856" y="468630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 w="15875">
            <a:solidFill>
              <a:srgbClr val="0D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gpt-4o-mini · T = 0.0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shared generation call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82896" y="5189220"/>
            <a:ext cx="0" cy="20574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36976" y="546354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>
                <a:solidFill>
                  <a:srgbClr val="1A1D22"/>
                </a:solidFill>
                <a:latin typeface="Segoe UI"/>
              </a:rPr>
              <a:t>RAGAS + LLM Hallucination Judge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calibrated against RAGTruth labels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4040" y="3429000"/>
            <a:ext cx="2194560" cy="2560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46304" wrap="square"/>
          <a:lstStyle/>
          <a:p>
            <a:pPr algn="ctr"/>
            <a:r>
              <a:rPr b="1" sz="1250">
                <a:solidFill>
                  <a:srgbClr val="0D3B66"/>
                </a:solidFill>
                <a:latin typeface="Segoe UI"/>
              </a:rPr>
              <a:t>Why this design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4A4F58"/>
                </a:solidFill>
                <a:latin typeface="Segoe UI"/>
              </a:rPr>
              <a:t>Retrieval is built once and reused, read-only, by all four strategies — so any measured difference can only come from the prompt.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05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What's fixed vs. what's tested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949440"/>
                <a:gridCol w="1737360"/>
              </a:tblGrid>
              <a:tr h="51435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anchor="ctr"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Setting</a:t>
                      </a:r>
                    </a:p>
                  </a:txBody>
                  <a:tcPr anchor="ctr"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>
                    <a:solidFill>
                      <a:srgbClr val="0D3B6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Chunking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RecursiveCharacterTextSplitter · 500 chars / 50 overlap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Embeddings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OpenAI text-embedding-3-small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Vector store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ChromaDB, persisted collection, built once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Retrieval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top-k = 4, same retriever object reused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Generation model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gpt-4o-mini, temperature 0.0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Grading judge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Same LLM judge &amp; taxonomy for every strategy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Prompt strategy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Zero-shot / Few-shot / Chain-of-Thought / Structured Output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9333F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06 · WORK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Approximately 50% — infrastructure and framework validated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5806440" cy="4251960"/>
          </a:xfrm>
          <a:prstGeom prst="roundRect">
            <a:avLst>
              <a:gd name="adj" fmla="val 5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7A4C"/>
                </a:solidFill>
                <a:latin typeface="Segoe UI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RAGTruth data pipeline — loading, QA-subset filtering, eval/calibration split, corpus construction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Chunking → embedding → ChromaDB indexing, shared read-only across all strategies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All 4 prompting strategy chains implemented in LangChain LCEL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Structured Output strategy's Pydantic schema (verbatim quotes + groundedness flag)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RAGAS integration (Faithfulness, Answer Relevancy)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Custom LLM hallucination judge, calibrated against RAGTruth's human labels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Interactive web dashboard — live pipeline run, progress, and charts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Automated test suite — 14 tests, no API key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5120640" cy="4251960"/>
          </a:xfrm>
          <a:prstGeom prst="roundRect">
            <a:avLst>
              <a:gd name="adj" fmla="val 5000"/>
            </a:avLst>
          </a:prstGeom>
          <a:solidFill>
            <a:srgbClr val="FB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02996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6A12"/>
                </a:solidFill>
                <a:latin typeface="Segoe UI"/>
              </a:rPr>
              <a:t>REMAINING FOR NEXT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95728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Full-scale benchmark run across all 4 strategies on the complete eval sample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Statistical comparison of accuracy / hallucination rate / faithfulness across strategies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Cost &amp; latency trade-off analysis at scale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Final recommendations: which strategy for which production scenario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06 · WORK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Is the judge itself trustworthy?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F58"/>
                </a:solidFill>
                <a:latin typeface="Segoe UI"/>
              </a:rPr>
              <a:t>Before grading any strategy, the LLM hallucination judge is checked against RAGTruth's own human annotations.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965960"/>
            <a:ext cx="6035040" cy="19659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201168" rIns="219456" wrap="square"/>
          <a:lstStyle/>
          <a:p>
            <a:pPr algn="ctr"/>
            <a:r>
              <a:rPr b="1" sz="1400">
                <a:solidFill>
                  <a:srgbClr val="0D3B66"/>
                </a:solidFill>
                <a:latin typeface="Segoe UI"/>
              </a:rPr>
              <a:t>Why calibrate a judge?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4A4F58"/>
                </a:solidFill>
                <a:latin typeface="Segoe UI"/>
              </a:rPr>
              <a:t>RAGTruth's human labels were written for its own models' answers, not ours. So the judge is run on RAGTruth's original (context, response, human-label) triples, and its predictions are compared against those human labels — before it is trusted to grade any of our own strategies'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3904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31536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965960"/>
            <a:ext cx="47548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201168" rIns="201168" wrap="square"/>
          <a:lstStyle/>
          <a:p>
            <a:pPr algn="ctr"/>
            <a:r>
              <a:rPr b="1" sz="1350">
                <a:solidFill>
                  <a:srgbClr val="0D3B66"/>
                </a:solidFill>
                <a:latin typeface="Segoe UI"/>
              </a:rPr>
              <a:t>Methodology detail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4A4F58"/>
                </a:solidFill>
                <a:latin typeface="Segoe UI"/>
              </a:rPr>
              <a:t>The judge is prompted to decompose each answer into atomic claims and check each one individually against the context — a single unsupported clause inside an otherwise-correct long answer must still be flagged.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A8F98"/>
                </a:solidFill>
                <a:latin typeface="Segoe UI"/>
              </a:rPr>
              <a:t>n = 30 calibration rows, held out from the evaluation set. These are framework-validation numbers — not the strategy comparison.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07 · 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Four review checkpoints across the semester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65960"/>
            <a:ext cx="259689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46304" rIns="128016" wrap="square"/>
          <a:lstStyle/>
          <a:p>
            <a:pPr algn="ctr"/>
            <a:r>
              <a:rPr sz="950" b="1">
                <a:solidFill>
                  <a:srgbClr val="8A8F98"/>
                </a:solidFill>
                <a:latin typeface="Segoe UI"/>
              </a:rPr>
              <a:t>PHASE 1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1A1D22"/>
                </a:solidFill>
                <a:latin typeface="Segoe UI"/>
              </a:rPr>
              <a:t>Zeroth Review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1E7A4C"/>
                </a:solidFill>
                <a:latin typeface="Segoe UI"/>
              </a:rPr>
              <a:t>Foundation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Problem identification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Literature survey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Initial proposal &amp;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5010912"/>
            <a:ext cx="665683" cy="27432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1E7A4C"/>
                </a:solidFill>
                <a:latin typeface="Segoe UI"/>
              </a:rPr>
              <a:t>✓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965960"/>
            <a:ext cx="259689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46304" rIns="128016" wrap="square"/>
          <a:lstStyle/>
          <a:p>
            <a:pPr algn="ctr"/>
            <a:r>
              <a:rPr sz="950" b="1">
                <a:solidFill>
                  <a:srgbClr val="8A8F98"/>
                </a:solidFill>
                <a:latin typeface="Segoe UI"/>
              </a:rPr>
              <a:t>PHASE 2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1A1D22"/>
                </a:solidFill>
                <a:latin typeface="Segoe UI"/>
              </a:rPr>
              <a:t>First Review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0D3B66"/>
                </a:solidFill>
                <a:latin typeface="Segoe UI"/>
              </a:rPr>
              <a:t>Pipeline &amp; Framework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Fixed RAG pipeline built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All 4 strategies implemented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Evaluation framework validated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5010912"/>
            <a:ext cx="1164945" cy="274320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0D3B66"/>
                </a:solidFill>
                <a:latin typeface="Segoe UI"/>
              </a:rPr>
              <a:t>● IN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965960"/>
            <a:ext cx="259689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46304" rIns="128016" wrap="square"/>
          <a:lstStyle/>
          <a:p>
            <a:pPr algn="ctr"/>
            <a:r>
              <a:rPr sz="950" b="1">
                <a:solidFill>
                  <a:srgbClr val="8A8F98"/>
                </a:solidFill>
                <a:latin typeface="Segoe UI"/>
              </a:rPr>
              <a:t>PHASE 3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1A1D22"/>
                </a:solidFill>
                <a:latin typeface="Segoe UI"/>
              </a:rPr>
              <a:t>Second Review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5A5E66"/>
                </a:solidFill>
                <a:latin typeface="Segoe UI"/>
              </a:rPr>
              <a:t>Full-Scale Benchmark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Run all strategies at scale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Final accuracy / hallucination comparison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Cost &amp; latency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7" y="5010912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5A5E66"/>
                </a:solidFill>
                <a:latin typeface="Segoe UI"/>
              </a:rPr>
              <a:t>○ UPCOMING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5128" y="1965960"/>
            <a:ext cx="259689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46304" rIns="128016" wrap="square"/>
          <a:lstStyle/>
          <a:p>
            <a:pPr algn="ctr"/>
            <a:r>
              <a:rPr sz="950" b="1">
                <a:solidFill>
                  <a:srgbClr val="8A8F98"/>
                </a:solidFill>
                <a:latin typeface="Segoe UI"/>
              </a:rPr>
              <a:t>PHASE 4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1A1D22"/>
                </a:solidFill>
                <a:latin typeface="Segoe UI"/>
              </a:rPr>
              <a:t>Final Review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5A5E66"/>
                </a:solidFill>
                <a:latin typeface="Segoe UI"/>
              </a:rPr>
              <a:t>Analysis &amp; Submission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Statistical significance check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Final report &amp; recommendations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A4F58"/>
                </a:solidFill>
                <a:latin typeface="Segoe UI"/>
              </a:rPr>
              <a:t>—  Project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144" y="5010912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5A5E66"/>
                </a:solidFill>
                <a:latin typeface="Segoe UI"/>
              </a:rPr>
              <a:t>○ UPCOMING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08376" y="3680460"/>
            <a:ext cx="502919" cy="0"/>
          </a:xfrm>
          <a:prstGeom prst="line">
            <a:avLst/>
          </a:prstGeom>
          <a:ln w="158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33871" y="3680460"/>
            <a:ext cx="502921" cy="0"/>
          </a:xfrm>
          <a:prstGeom prst="line">
            <a:avLst/>
          </a:prstGeom>
          <a:ln w="158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59367" y="3680460"/>
            <a:ext cx="502921" cy="0"/>
          </a:xfrm>
          <a:prstGeom prst="line">
            <a:avLst/>
          </a:prstGeom>
          <a:ln w="158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08 ·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A1D22"/>
                </a:solidFill>
                <a:latin typeface="Georgia"/>
              </a:rPr>
              <a:t>What it's built with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65960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ORCHESTRATION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LangChain (LCEL)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5960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VECTOR STORE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ChromaDB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65960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EMBEDDINGS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text-embedding-3-small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10712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BASE LLM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gpt-4o-mini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410712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VALIDATION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Pydantic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10712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EVALUATION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RAGAS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55464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DATASET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RAGTruth (Hugging Face)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855464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BACKEND / GUI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FastAPI + WebSocket + 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855464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TESTING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pytest (14 tests)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